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2"/>
  </p:notesMasterIdLst>
  <p:sldIdLst>
    <p:sldId id="266" r:id="rId5"/>
    <p:sldId id="275" r:id="rId6"/>
    <p:sldId id="276" r:id="rId7"/>
    <p:sldId id="277" r:id="rId8"/>
    <p:sldId id="278" r:id="rId9"/>
    <p:sldId id="279" r:id="rId10"/>
    <p:sldId id="28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7450A3-CFA1-4123-9220-7A91F77E2C5C}" v="4947" dt="2025-11-14T17:36:25.917"/>
    <p1510:client id="{310773DE-32BD-4EF9-ADB5-2BB682B7EFCF}" v="90" dt="2025-11-14T16:29:10.492"/>
    <p1510:client id="{48B469A2-BE46-413E-ABED-F398F547EDBA}" v="765" dt="2025-11-14T04:54:38.836"/>
    <p1510:client id="{660E552E-E392-53FD-F29F-A36A3F36691F}" v="39" dt="2025-11-13T20:58:37.8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100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1C72EF-76F8-437B-A66E-07F5926CCB1B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02F109B-2465-497C-A520-DF34F40D8D84}">
      <dgm:prSet custT="1"/>
      <dgm:spPr>
        <a:solidFill>
          <a:schemeClr val="bg2"/>
        </a:solidFill>
        <a:ln>
          <a:solidFill>
            <a:srgbClr val="990000"/>
          </a:solidFill>
        </a:ln>
      </dgm:spPr>
      <dgm:t>
        <a:bodyPr/>
        <a:lstStyle/>
        <a:p>
          <a:pPr algn="l"/>
          <a:r>
            <a:rPr lang="en-US" sz="1600" b="0" dirty="0">
              <a:solidFill>
                <a:schemeClr val="tx1"/>
              </a:solidFill>
            </a:rPr>
            <a:t>Register a new account</a:t>
          </a:r>
        </a:p>
      </dgm:t>
    </dgm:pt>
    <dgm:pt modelId="{372A3122-DBA9-44FC-BEB5-EF24245037B9}" type="parTrans" cxnId="{0ADF29B2-BFF5-4524-93FC-88EEA6F44CEC}">
      <dgm:prSet/>
      <dgm:spPr/>
      <dgm:t>
        <a:bodyPr/>
        <a:lstStyle/>
        <a:p>
          <a:endParaRPr lang="en-US" sz="1600" b="0">
            <a:solidFill>
              <a:schemeClr val="tx1"/>
            </a:solidFill>
          </a:endParaRPr>
        </a:p>
      </dgm:t>
    </dgm:pt>
    <dgm:pt modelId="{3FA6E646-6B3B-43B2-96BE-D3D0D36CF32E}" type="sibTrans" cxnId="{0ADF29B2-BFF5-4524-93FC-88EEA6F44CEC}">
      <dgm:prSet custT="1"/>
      <dgm:spPr>
        <a:ln>
          <a:solidFill>
            <a:srgbClr val="990000"/>
          </a:solidFill>
        </a:ln>
      </dgm:spPr>
      <dgm:t>
        <a:bodyPr/>
        <a:lstStyle/>
        <a:p>
          <a:endParaRPr lang="en-US" sz="1600" b="0">
            <a:solidFill>
              <a:schemeClr val="tx1"/>
            </a:solidFill>
          </a:endParaRPr>
        </a:p>
      </dgm:t>
    </dgm:pt>
    <dgm:pt modelId="{306B94FE-02ED-43CB-BDB8-C7D8173436DE}">
      <dgm:prSet custT="1"/>
      <dgm:spPr>
        <a:solidFill>
          <a:schemeClr val="bg2"/>
        </a:solidFill>
        <a:ln>
          <a:solidFill>
            <a:srgbClr val="990000"/>
          </a:solidFill>
        </a:ln>
      </dgm:spPr>
      <dgm:t>
        <a:bodyPr/>
        <a:lstStyle/>
        <a:p>
          <a:pPr algn="l"/>
          <a:r>
            <a:rPr lang="en-US" sz="1600" b="0" dirty="0">
              <a:solidFill>
                <a:schemeClr val="tx1"/>
              </a:solidFill>
            </a:rPr>
            <a:t>Log in with credentials </a:t>
          </a:r>
        </a:p>
      </dgm:t>
    </dgm:pt>
    <dgm:pt modelId="{9C77F461-54EF-4B84-AD0A-F4029445486B}" type="parTrans" cxnId="{C616D047-3FE6-434B-B12F-961435801441}">
      <dgm:prSet/>
      <dgm:spPr/>
      <dgm:t>
        <a:bodyPr/>
        <a:lstStyle/>
        <a:p>
          <a:endParaRPr lang="en-US" sz="1600" b="0">
            <a:solidFill>
              <a:schemeClr val="tx1"/>
            </a:solidFill>
          </a:endParaRPr>
        </a:p>
      </dgm:t>
    </dgm:pt>
    <dgm:pt modelId="{4EB45673-47B8-4D40-88F2-B7B56A1ADFF5}" type="sibTrans" cxnId="{C616D047-3FE6-434B-B12F-961435801441}">
      <dgm:prSet custT="1"/>
      <dgm:spPr>
        <a:ln>
          <a:solidFill>
            <a:srgbClr val="990000"/>
          </a:solidFill>
        </a:ln>
      </dgm:spPr>
      <dgm:t>
        <a:bodyPr/>
        <a:lstStyle/>
        <a:p>
          <a:endParaRPr lang="en-US" sz="1600" b="0">
            <a:solidFill>
              <a:schemeClr val="tx1"/>
            </a:solidFill>
          </a:endParaRPr>
        </a:p>
      </dgm:t>
    </dgm:pt>
    <dgm:pt modelId="{A05B0E6D-2062-443F-950C-8C4F1627DAD1}">
      <dgm:prSet custT="1"/>
      <dgm:spPr>
        <a:solidFill>
          <a:schemeClr val="bg2"/>
        </a:solidFill>
        <a:ln>
          <a:solidFill>
            <a:srgbClr val="990000"/>
          </a:solidFill>
        </a:ln>
      </dgm:spPr>
      <dgm:t>
        <a:bodyPr/>
        <a:lstStyle/>
        <a:p>
          <a:pPr algn="l"/>
          <a:r>
            <a:rPr lang="en-US" sz="1600" b="0" dirty="0">
              <a:solidFill>
                <a:schemeClr val="tx1"/>
              </a:solidFill>
            </a:rPr>
            <a:t>Browse or search for resources</a:t>
          </a:r>
        </a:p>
      </dgm:t>
    </dgm:pt>
    <dgm:pt modelId="{3D3A83B0-1FC0-4B17-89B2-BD7B721BBA31}" type="parTrans" cxnId="{3C45B2CA-D92A-4007-B921-91253711889D}">
      <dgm:prSet/>
      <dgm:spPr/>
      <dgm:t>
        <a:bodyPr/>
        <a:lstStyle/>
        <a:p>
          <a:endParaRPr lang="en-US" sz="1600" b="0">
            <a:solidFill>
              <a:schemeClr val="tx1"/>
            </a:solidFill>
          </a:endParaRPr>
        </a:p>
      </dgm:t>
    </dgm:pt>
    <dgm:pt modelId="{0DFBEC14-61DC-453F-9AD5-26C59FB08EDA}" type="sibTrans" cxnId="{3C45B2CA-D92A-4007-B921-91253711889D}">
      <dgm:prSet custT="1"/>
      <dgm:spPr>
        <a:ln>
          <a:solidFill>
            <a:srgbClr val="990000"/>
          </a:solidFill>
        </a:ln>
      </dgm:spPr>
      <dgm:t>
        <a:bodyPr/>
        <a:lstStyle/>
        <a:p>
          <a:endParaRPr lang="en-US" sz="1600" b="0">
            <a:solidFill>
              <a:schemeClr val="tx1"/>
            </a:solidFill>
          </a:endParaRPr>
        </a:p>
      </dgm:t>
    </dgm:pt>
    <dgm:pt modelId="{D69B4301-C72C-4D6F-B0AC-631306E1A947}">
      <dgm:prSet custT="1"/>
      <dgm:spPr>
        <a:solidFill>
          <a:schemeClr val="bg2"/>
        </a:solidFill>
        <a:ln>
          <a:solidFill>
            <a:srgbClr val="990000"/>
          </a:solidFill>
        </a:ln>
      </dgm:spPr>
      <dgm:t>
        <a:bodyPr/>
        <a:lstStyle/>
        <a:p>
          <a:pPr algn="l"/>
          <a:r>
            <a:rPr lang="en-US" sz="1600" b="0" dirty="0">
              <a:solidFill>
                <a:schemeClr val="tx1"/>
              </a:solidFill>
            </a:rPr>
            <a:t>Open resource details &amp; view availability</a:t>
          </a:r>
        </a:p>
      </dgm:t>
    </dgm:pt>
    <dgm:pt modelId="{120C9C4C-68D6-46C4-9CBD-74AA57944CA3}" type="parTrans" cxnId="{1C9821CE-5FA2-44A5-A8CD-9F8F2B0C5D01}">
      <dgm:prSet/>
      <dgm:spPr/>
      <dgm:t>
        <a:bodyPr/>
        <a:lstStyle/>
        <a:p>
          <a:endParaRPr lang="en-US" sz="1600" b="0">
            <a:solidFill>
              <a:schemeClr val="tx1"/>
            </a:solidFill>
          </a:endParaRPr>
        </a:p>
      </dgm:t>
    </dgm:pt>
    <dgm:pt modelId="{A69C8387-F182-4988-A26C-BBE7137A82CD}" type="sibTrans" cxnId="{1C9821CE-5FA2-44A5-A8CD-9F8F2B0C5D01}">
      <dgm:prSet custT="1"/>
      <dgm:spPr>
        <a:ln>
          <a:solidFill>
            <a:srgbClr val="990000"/>
          </a:solidFill>
        </a:ln>
      </dgm:spPr>
      <dgm:t>
        <a:bodyPr/>
        <a:lstStyle/>
        <a:p>
          <a:endParaRPr lang="en-US" sz="1600" b="0">
            <a:solidFill>
              <a:schemeClr val="tx1"/>
            </a:solidFill>
          </a:endParaRPr>
        </a:p>
      </dgm:t>
    </dgm:pt>
    <dgm:pt modelId="{EEC5C44F-9BCB-4F4A-B42E-5ED680415F88}" type="pres">
      <dgm:prSet presAssocID="{601C72EF-76F8-437B-A66E-07F5926CCB1B}" presName="Name0" presStyleCnt="0">
        <dgm:presLayoutVars>
          <dgm:dir/>
          <dgm:resizeHandles val="exact"/>
        </dgm:presLayoutVars>
      </dgm:prSet>
      <dgm:spPr/>
    </dgm:pt>
    <dgm:pt modelId="{7B2DA0B6-8570-41A3-81DE-27CA597F19DD}" type="pres">
      <dgm:prSet presAssocID="{402F109B-2465-497C-A520-DF34F40D8D84}" presName="node" presStyleLbl="node1" presStyleIdx="0" presStyleCnt="4">
        <dgm:presLayoutVars>
          <dgm:bulletEnabled val="1"/>
        </dgm:presLayoutVars>
      </dgm:prSet>
      <dgm:spPr/>
    </dgm:pt>
    <dgm:pt modelId="{BAED1624-B5DE-4D97-A342-0101033AB92B}" type="pres">
      <dgm:prSet presAssocID="{3FA6E646-6B3B-43B2-96BE-D3D0D36CF32E}" presName="sibTrans" presStyleLbl="sibTrans1D1" presStyleIdx="0" presStyleCnt="3"/>
      <dgm:spPr/>
    </dgm:pt>
    <dgm:pt modelId="{9CABD078-95D2-4328-A3FC-508858D62654}" type="pres">
      <dgm:prSet presAssocID="{3FA6E646-6B3B-43B2-96BE-D3D0D36CF32E}" presName="connectorText" presStyleLbl="sibTrans1D1" presStyleIdx="0" presStyleCnt="3"/>
      <dgm:spPr/>
    </dgm:pt>
    <dgm:pt modelId="{EDB3D352-908B-4238-82EE-5E2E615C76F0}" type="pres">
      <dgm:prSet presAssocID="{306B94FE-02ED-43CB-BDB8-C7D8173436DE}" presName="node" presStyleLbl="node1" presStyleIdx="1" presStyleCnt="4">
        <dgm:presLayoutVars>
          <dgm:bulletEnabled val="1"/>
        </dgm:presLayoutVars>
      </dgm:prSet>
      <dgm:spPr/>
    </dgm:pt>
    <dgm:pt modelId="{47FAE23E-30E8-47C1-80D1-9C2E56F37AE4}" type="pres">
      <dgm:prSet presAssocID="{4EB45673-47B8-4D40-88F2-B7B56A1ADFF5}" presName="sibTrans" presStyleLbl="sibTrans1D1" presStyleIdx="1" presStyleCnt="3"/>
      <dgm:spPr/>
    </dgm:pt>
    <dgm:pt modelId="{AB7C8427-25AE-4303-9E3F-780A6450CFE0}" type="pres">
      <dgm:prSet presAssocID="{4EB45673-47B8-4D40-88F2-B7B56A1ADFF5}" presName="connectorText" presStyleLbl="sibTrans1D1" presStyleIdx="1" presStyleCnt="3"/>
      <dgm:spPr/>
    </dgm:pt>
    <dgm:pt modelId="{55467C0B-5024-478F-8FB1-73C1BA16A5B9}" type="pres">
      <dgm:prSet presAssocID="{A05B0E6D-2062-443F-950C-8C4F1627DAD1}" presName="node" presStyleLbl="node1" presStyleIdx="2" presStyleCnt="4">
        <dgm:presLayoutVars>
          <dgm:bulletEnabled val="1"/>
        </dgm:presLayoutVars>
      </dgm:prSet>
      <dgm:spPr/>
    </dgm:pt>
    <dgm:pt modelId="{E39595F4-36C3-4AE8-A9C5-305AA3DE09D5}" type="pres">
      <dgm:prSet presAssocID="{0DFBEC14-61DC-453F-9AD5-26C59FB08EDA}" presName="sibTrans" presStyleLbl="sibTrans1D1" presStyleIdx="2" presStyleCnt="3"/>
      <dgm:spPr/>
    </dgm:pt>
    <dgm:pt modelId="{804F47FF-E9DB-4823-B919-661F7EDFD3F7}" type="pres">
      <dgm:prSet presAssocID="{0DFBEC14-61DC-453F-9AD5-26C59FB08EDA}" presName="connectorText" presStyleLbl="sibTrans1D1" presStyleIdx="2" presStyleCnt="3"/>
      <dgm:spPr/>
    </dgm:pt>
    <dgm:pt modelId="{8E59602A-95F8-482D-9A49-70C99AA23C29}" type="pres">
      <dgm:prSet presAssocID="{D69B4301-C72C-4D6F-B0AC-631306E1A947}" presName="node" presStyleLbl="node1" presStyleIdx="3" presStyleCnt="4">
        <dgm:presLayoutVars>
          <dgm:bulletEnabled val="1"/>
        </dgm:presLayoutVars>
      </dgm:prSet>
      <dgm:spPr/>
    </dgm:pt>
  </dgm:ptLst>
  <dgm:cxnLst>
    <dgm:cxn modelId="{9C35605F-4A57-4E73-9CEB-D2124B1CF553}" type="presOf" srcId="{D69B4301-C72C-4D6F-B0AC-631306E1A947}" destId="{8E59602A-95F8-482D-9A49-70C99AA23C29}" srcOrd="0" destOrd="0" presId="urn:microsoft.com/office/officeart/2016/7/layout/RepeatingBendingProcessNew"/>
    <dgm:cxn modelId="{A28E5F62-2BB2-4C4E-8151-EE5587CB5B67}" type="presOf" srcId="{306B94FE-02ED-43CB-BDB8-C7D8173436DE}" destId="{EDB3D352-908B-4238-82EE-5E2E615C76F0}" srcOrd="0" destOrd="0" presId="urn:microsoft.com/office/officeart/2016/7/layout/RepeatingBendingProcessNew"/>
    <dgm:cxn modelId="{403A3367-045C-4651-B54A-81F874D3AFC5}" type="presOf" srcId="{3FA6E646-6B3B-43B2-96BE-D3D0D36CF32E}" destId="{BAED1624-B5DE-4D97-A342-0101033AB92B}" srcOrd="0" destOrd="0" presId="urn:microsoft.com/office/officeart/2016/7/layout/RepeatingBendingProcessNew"/>
    <dgm:cxn modelId="{C616D047-3FE6-434B-B12F-961435801441}" srcId="{601C72EF-76F8-437B-A66E-07F5926CCB1B}" destId="{306B94FE-02ED-43CB-BDB8-C7D8173436DE}" srcOrd="1" destOrd="0" parTransId="{9C77F461-54EF-4B84-AD0A-F4029445486B}" sibTransId="{4EB45673-47B8-4D40-88F2-B7B56A1ADFF5}"/>
    <dgm:cxn modelId="{FB12CA6A-C333-4AE1-8532-322F05577366}" type="presOf" srcId="{0DFBEC14-61DC-453F-9AD5-26C59FB08EDA}" destId="{804F47FF-E9DB-4823-B919-661F7EDFD3F7}" srcOrd="1" destOrd="0" presId="urn:microsoft.com/office/officeart/2016/7/layout/RepeatingBendingProcessNew"/>
    <dgm:cxn modelId="{84012E4C-0167-44E5-80DA-BFF5826CFDC4}" type="presOf" srcId="{4EB45673-47B8-4D40-88F2-B7B56A1ADFF5}" destId="{AB7C8427-25AE-4303-9E3F-780A6450CFE0}" srcOrd="1" destOrd="0" presId="urn:microsoft.com/office/officeart/2016/7/layout/RepeatingBendingProcessNew"/>
    <dgm:cxn modelId="{11E0246D-E38F-4FC4-BBE9-11816EC4D820}" type="presOf" srcId="{4EB45673-47B8-4D40-88F2-B7B56A1ADFF5}" destId="{47FAE23E-30E8-47C1-80D1-9C2E56F37AE4}" srcOrd="0" destOrd="0" presId="urn:microsoft.com/office/officeart/2016/7/layout/RepeatingBendingProcessNew"/>
    <dgm:cxn modelId="{1C1F3474-BE95-4942-8822-25B7258D24AA}" type="presOf" srcId="{0DFBEC14-61DC-453F-9AD5-26C59FB08EDA}" destId="{E39595F4-36C3-4AE8-A9C5-305AA3DE09D5}" srcOrd="0" destOrd="0" presId="urn:microsoft.com/office/officeart/2016/7/layout/RepeatingBendingProcessNew"/>
    <dgm:cxn modelId="{FF8A4075-3220-480A-9D45-456AF2DB4049}" type="presOf" srcId="{402F109B-2465-497C-A520-DF34F40D8D84}" destId="{7B2DA0B6-8570-41A3-81DE-27CA597F19DD}" srcOrd="0" destOrd="0" presId="urn:microsoft.com/office/officeart/2016/7/layout/RepeatingBendingProcessNew"/>
    <dgm:cxn modelId="{8FC61F99-AE59-41E6-9C09-4C568B13F021}" type="presOf" srcId="{A05B0E6D-2062-443F-950C-8C4F1627DAD1}" destId="{55467C0B-5024-478F-8FB1-73C1BA16A5B9}" srcOrd="0" destOrd="0" presId="urn:microsoft.com/office/officeart/2016/7/layout/RepeatingBendingProcessNew"/>
    <dgm:cxn modelId="{0ADF29B2-BFF5-4524-93FC-88EEA6F44CEC}" srcId="{601C72EF-76F8-437B-A66E-07F5926CCB1B}" destId="{402F109B-2465-497C-A520-DF34F40D8D84}" srcOrd="0" destOrd="0" parTransId="{372A3122-DBA9-44FC-BEB5-EF24245037B9}" sibTransId="{3FA6E646-6B3B-43B2-96BE-D3D0D36CF32E}"/>
    <dgm:cxn modelId="{3C45B2CA-D92A-4007-B921-91253711889D}" srcId="{601C72EF-76F8-437B-A66E-07F5926CCB1B}" destId="{A05B0E6D-2062-443F-950C-8C4F1627DAD1}" srcOrd="2" destOrd="0" parTransId="{3D3A83B0-1FC0-4B17-89B2-BD7B721BBA31}" sibTransId="{0DFBEC14-61DC-453F-9AD5-26C59FB08EDA}"/>
    <dgm:cxn modelId="{1C9821CE-5FA2-44A5-A8CD-9F8F2B0C5D01}" srcId="{601C72EF-76F8-437B-A66E-07F5926CCB1B}" destId="{D69B4301-C72C-4D6F-B0AC-631306E1A947}" srcOrd="3" destOrd="0" parTransId="{120C9C4C-68D6-46C4-9CBD-74AA57944CA3}" sibTransId="{A69C8387-F182-4988-A26C-BBE7137A82CD}"/>
    <dgm:cxn modelId="{4DBFABD0-DFBA-4BE4-909E-A17A27C1FB42}" type="presOf" srcId="{601C72EF-76F8-437B-A66E-07F5926CCB1B}" destId="{EEC5C44F-9BCB-4F4A-B42E-5ED680415F88}" srcOrd="0" destOrd="0" presId="urn:microsoft.com/office/officeart/2016/7/layout/RepeatingBendingProcessNew"/>
    <dgm:cxn modelId="{82B9FAFD-94AB-4BE4-A65C-F08B8B390E0C}" type="presOf" srcId="{3FA6E646-6B3B-43B2-96BE-D3D0D36CF32E}" destId="{9CABD078-95D2-4328-A3FC-508858D62654}" srcOrd="1" destOrd="0" presId="urn:microsoft.com/office/officeart/2016/7/layout/RepeatingBendingProcessNew"/>
    <dgm:cxn modelId="{DFFA3B44-D1A6-4DF7-A948-3ED3A6318D32}" type="presParOf" srcId="{EEC5C44F-9BCB-4F4A-B42E-5ED680415F88}" destId="{7B2DA0B6-8570-41A3-81DE-27CA597F19DD}" srcOrd="0" destOrd="0" presId="urn:microsoft.com/office/officeart/2016/7/layout/RepeatingBendingProcessNew"/>
    <dgm:cxn modelId="{056B06D3-A779-4958-961C-93958568084E}" type="presParOf" srcId="{EEC5C44F-9BCB-4F4A-B42E-5ED680415F88}" destId="{BAED1624-B5DE-4D97-A342-0101033AB92B}" srcOrd="1" destOrd="0" presId="urn:microsoft.com/office/officeart/2016/7/layout/RepeatingBendingProcessNew"/>
    <dgm:cxn modelId="{1866F190-CF0E-48A3-B779-849A775953B7}" type="presParOf" srcId="{BAED1624-B5DE-4D97-A342-0101033AB92B}" destId="{9CABD078-95D2-4328-A3FC-508858D62654}" srcOrd="0" destOrd="0" presId="urn:microsoft.com/office/officeart/2016/7/layout/RepeatingBendingProcessNew"/>
    <dgm:cxn modelId="{619CBDFE-016C-4282-9186-BCE0D554CF5C}" type="presParOf" srcId="{EEC5C44F-9BCB-4F4A-B42E-5ED680415F88}" destId="{EDB3D352-908B-4238-82EE-5E2E615C76F0}" srcOrd="2" destOrd="0" presId="urn:microsoft.com/office/officeart/2016/7/layout/RepeatingBendingProcessNew"/>
    <dgm:cxn modelId="{C64539E2-9C3C-427F-9638-F7C4CD28226A}" type="presParOf" srcId="{EEC5C44F-9BCB-4F4A-B42E-5ED680415F88}" destId="{47FAE23E-30E8-47C1-80D1-9C2E56F37AE4}" srcOrd="3" destOrd="0" presId="urn:microsoft.com/office/officeart/2016/7/layout/RepeatingBendingProcessNew"/>
    <dgm:cxn modelId="{1A27C82F-ED4D-4011-89AE-8C6B790C3178}" type="presParOf" srcId="{47FAE23E-30E8-47C1-80D1-9C2E56F37AE4}" destId="{AB7C8427-25AE-4303-9E3F-780A6450CFE0}" srcOrd="0" destOrd="0" presId="urn:microsoft.com/office/officeart/2016/7/layout/RepeatingBendingProcessNew"/>
    <dgm:cxn modelId="{9FD92F55-7D0C-4A87-91D4-8F99C339E798}" type="presParOf" srcId="{EEC5C44F-9BCB-4F4A-B42E-5ED680415F88}" destId="{55467C0B-5024-478F-8FB1-73C1BA16A5B9}" srcOrd="4" destOrd="0" presId="urn:microsoft.com/office/officeart/2016/7/layout/RepeatingBendingProcessNew"/>
    <dgm:cxn modelId="{DD9855F5-7B7D-4A06-AE00-B92D68E56AC1}" type="presParOf" srcId="{EEC5C44F-9BCB-4F4A-B42E-5ED680415F88}" destId="{E39595F4-36C3-4AE8-A9C5-305AA3DE09D5}" srcOrd="5" destOrd="0" presId="urn:microsoft.com/office/officeart/2016/7/layout/RepeatingBendingProcessNew"/>
    <dgm:cxn modelId="{1CC2E53A-41E0-40FC-9101-EFE2D320A0F4}" type="presParOf" srcId="{E39595F4-36C3-4AE8-A9C5-305AA3DE09D5}" destId="{804F47FF-E9DB-4823-B919-661F7EDFD3F7}" srcOrd="0" destOrd="0" presId="urn:microsoft.com/office/officeart/2016/7/layout/RepeatingBendingProcessNew"/>
    <dgm:cxn modelId="{46CE27DA-7296-4B1D-9BBB-F97EBD7BEF5D}" type="presParOf" srcId="{EEC5C44F-9BCB-4F4A-B42E-5ED680415F88}" destId="{8E59602A-95F8-482D-9A49-70C99AA23C29}" srcOrd="6" destOrd="0" presId="urn:microsoft.com/office/officeart/2016/7/layout/RepeatingBendingProcessNew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ED1624-B5DE-4D97-A342-0101033AB92B}">
      <dsp:nvSpPr>
        <dsp:cNvPr id="0" name=""/>
        <dsp:cNvSpPr/>
      </dsp:nvSpPr>
      <dsp:spPr>
        <a:xfrm>
          <a:off x="1853059" y="1802403"/>
          <a:ext cx="39581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5817" y="45720"/>
              </a:lnTo>
            </a:path>
          </a:pathLst>
        </a:custGeom>
        <a:noFill/>
        <a:ln w="12700" cap="flat" cmpd="sng" algn="ctr">
          <a:solidFill>
            <a:srgbClr val="990000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0" kern="1200">
            <a:solidFill>
              <a:schemeClr val="tx1"/>
            </a:solidFill>
          </a:endParaRPr>
        </a:p>
      </dsp:txBody>
      <dsp:txXfrm>
        <a:off x="2040307" y="1845991"/>
        <a:ext cx="21320" cy="4264"/>
      </dsp:txXfrm>
    </dsp:sp>
    <dsp:sp modelId="{7B2DA0B6-8570-41A3-81DE-27CA597F19DD}">
      <dsp:nvSpPr>
        <dsp:cNvPr id="0" name=""/>
        <dsp:cNvSpPr/>
      </dsp:nvSpPr>
      <dsp:spPr>
        <a:xfrm>
          <a:off x="868" y="1291926"/>
          <a:ext cx="1853990" cy="1112394"/>
        </a:xfrm>
        <a:prstGeom prst="rect">
          <a:avLst/>
        </a:prstGeom>
        <a:solidFill>
          <a:schemeClr val="bg2"/>
        </a:solidFill>
        <a:ln w="19050" cap="flat" cmpd="sng" algn="ctr">
          <a:solidFill>
            <a:srgbClr val="99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847" tIns="95360" rIns="90847" bIns="953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solidFill>
                <a:schemeClr val="tx1"/>
              </a:solidFill>
            </a:rPr>
            <a:t>Register a new account</a:t>
          </a:r>
        </a:p>
      </dsp:txBody>
      <dsp:txXfrm>
        <a:off x="868" y="1291926"/>
        <a:ext cx="1853990" cy="1112394"/>
      </dsp:txXfrm>
    </dsp:sp>
    <dsp:sp modelId="{47FAE23E-30E8-47C1-80D1-9C2E56F37AE4}">
      <dsp:nvSpPr>
        <dsp:cNvPr id="0" name=""/>
        <dsp:cNvSpPr/>
      </dsp:nvSpPr>
      <dsp:spPr>
        <a:xfrm>
          <a:off x="927863" y="2402520"/>
          <a:ext cx="2280408" cy="395817"/>
        </a:xfrm>
        <a:custGeom>
          <a:avLst/>
          <a:gdLst/>
          <a:ahLst/>
          <a:cxnLst/>
          <a:rect l="0" t="0" r="0" b="0"/>
          <a:pathLst>
            <a:path>
              <a:moveTo>
                <a:pt x="2280408" y="0"/>
              </a:moveTo>
              <a:lnTo>
                <a:pt x="2280408" y="215008"/>
              </a:lnTo>
              <a:lnTo>
                <a:pt x="0" y="215008"/>
              </a:lnTo>
              <a:lnTo>
                <a:pt x="0" y="395817"/>
              </a:lnTo>
            </a:path>
          </a:pathLst>
        </a:custGeom>
        <a:noFill/>
        <a:ln w="12700" cap="flat" cmpd="sng" algn="ctr">
          <a:solidFill>
            <a:srgbClr val="990000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0" kern="1200">
            <a:solidFill>
              <a:schemeClr val="tx1"/>
            </a:solidFill>
          </a:endParaRPr>
        </a:p>
      </dsp:txBody>
      <dsp:txXfrm>
        <a:off x="2010069" y="2598297"/>
        <a:ext cx="115996" cy="4264"/>
      </dsp:txXfrm>
    </dsp:sp>
    <dsp:sp modelId="{EDB3D352-908B-4238-82EE-5E2E615C76F0}">
      <dsp:nvSpPr>
        <dsp:cNvPr id="0" name=""/>
        <dsp:cNvSpPr/>
      </dsp:nvSpPr>
      <dsp:spPr>
        <a:xfrm>
          <a:off x="2281276" y="1291926"/>
          <a:ext cx="1853990" cy="1112394"/>
        </a:xfrm>
        <a:prstGeom prst="rect">
          <a:avLst/>
        </a:prstGeom>
        <a:solidFill>
          <a:schemeClr val="bg2"/>
        </a:solidFill>
        <a:ln w="19050" cap="flat" cmpd="sng" algn="ctr">
          <a:solidFill>
            <a:srgbClr val="99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847" tIns="95360" rIns="90847" bIns="953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solidFill>
                <a:schemeClr val="tx1"/>
              </a:solidFill>
            </a:rPr>
            <a:t>Log in with credentials </a:t>
          </a:r>
        </a:p>
      </dsp:txBody>
      <dsp:txXfrm>
        <a:off x="2281276" y="1291926"/>
        <a:ext cx="1853990" cy="1112394"/>
      </dsp:txXfrm>
    </dsp:sp>
    <dsp:sp modelId="{E39595F4-36C3-4AE8-A9C5-305AA3DE09D5}">
      <dsp:nvSpPr>
        <dsp:cNvPr id="0" name=""/>
        <dsp:cNvSpPr/>
      </dsp:nvSpPr>
      <dsp:spPr>
        <a:xfrm>
          <a:off x="1853059" y="3341215"/>
          <a:ext cx="39581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95817" y="45720"/>
              </a:lnTo>
            </a:path>
          </a:pathLst>
        </a:custGeom>
        <a:noFill/>
        <a:ln w="12700" cap="flat" cmpd="sng" algn="ctr">
          <a:solidFill>
            <a:srgbClr val="990000"/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600" b="0" kern="1200">
            <a:solidFill>
              <a:schemeClr val="tx1"/>
            </a:solidFill>
          </a:endParaRPr>
        </a:p>
      </dsp:txBody>
      <dsp:txXfrm>
        <a:off x="2040307" y="3384803"/>
        <a:ext cx="21320" cy="4264"/>
      </dsp:txXfrm>
    </dsp:sp>
    <dsp:sp modelId="{55467C0B-5024-478F-8FB1-73C1BA16A5B9}">
      <dsp:nvSpPr>
        <dsp:cNvPr id="0" name=""/>
        <dsp:cNvSpPr/>
      </dsp:nvSpPr>
      <dsp:spPr>
        <a:xfrm>
          <a:off x="868" y="2830738"/>
          <a:ext cx="1853990" cy="1112394"/>
        </a:xfrm>
        <a:prstGeom prst="rect">
          <a:avLst/>
        </a:prstGeom>
        <a:solidFill>
          <a:schemeClr val="bg2"/>
        </a:solidFill>
        <a:ln w="19050" cap="flat" cmpd="sng" algn="ctr">
          <a:solidFill>
            <a:srgbClr val="99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847" tIns="95360" rIns="90847" bIns="953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solidFill>
                <a:schemeClr val="tx1"/>
              </a:solidFill>
            </a:rPr>
            <a:t>Browse or search for resources</a:t>
          </a:r>
        </a:p>
      </dsp:txBody>
      <dsp:txXfrm>
        <a:off x="868" y="2830738"/>
        <a:ext cx="1853990" cy="1112394"/>
      </dsp:txXfrm>
    </dsp:sp>
    <dsp:sp modelId="{8E59602A-95F8-482D-9A49-70C99AA23C29}">
      <dsp:nvSpPr>
        <dsp:cNvPr id="0" name=""/>
        <dsp:cNvSpPr/>
      </dsp:nvSpPr>
      <dsp:spPr>
        <a:xfrm>
          <a:off x="2281276" y="2830738"/>
          <a:ext cx="1853990" cy="1112394"/>
        </a:xfrm>
        <a:prstGeom prst="rect">
          <a:avLst/>
        </a:prstGeom>
        <a:solidFill>
          <a:schemeClr val="bg2"/>
        </a:solidFill>
        <a:ln w="19050" cap="flat" cmpd="sng" algn="ctr">
          <a:solidFill>
            <a:srgbClr val="99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0847" tIns="95360" rIns="90847" bIns="953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>
              <a:solidFill>
                <a:schemeClr val="tx1"/>
              </a:solidFill>
            </a:rPr>
            <a:t>Open resource details &amp; view availability</a:t>
          </a:r>
        </a:p>
      </dsp:txBody>
      <dsp:txXfrm>
        <a:off x="2281276" y="2830738"/>
        <a:ext cx="1853990" cy="11123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8CD577-CF90-409C-B2FF-CE03EA08642A}" type="datetimeFigureOut"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072812-4123-4E55-8EA9-852CCAEDFAE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768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50202-0E57-9D4F-38FE-3466BA7250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885AF6-5197-D2C5-3921-1582BB5C1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BD30C-9C8E-11E3-5D96-CE56F8145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1891-A408-4B8D-8C05-4D6341C338BC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11E60-9148-EA62-6DA1-7EDE1A164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2656D-04B3-D09D-E4E3-E193FC206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FFA0-136F-462E-B8C6-AE8ED6E68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586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20B95-5B9A-C0B6-B0F1-A6642443D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4693C-56DA-6FF9-86D8-400578776C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36430-7A57-E14C-3FF5-35EC7AD06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D8281-1C0A-4D74-8028-47D44F2E9626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714F6-540A-25BE-C482-41C1C03E0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11BA2-9055-F523-2520-E512D7A14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FFA0-136F-462E-B8C6-AE8ED6E68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853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1FC0C-54A4-84A8-5357-90C3A69FE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E4828D-B61E-6005-A3F5-2DDE7B5DD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CA8B6-DBA1-7CE6-3AC0-1A2052E43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602EB-E3F2-4042-A8B8-44DFC36B6B32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56600-8367-7167-F28F-416501626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544A5-A0DC-85F9-B7FE-405ED8DAC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FFA0-136F-462E-B8C6-AE8ED6E68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33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8DFDB-7B23-A278-D1F6-B4AC3B536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0C534D-B684-3A2A-A424-0A4F1B902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B46EAC-6A25-98BF-9666-92B140B0D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E7AFE-4407-11EF-C70D-B882080C7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408D5-9BF7-4190-97CE-AEB02545840C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6B104-7328-61BC-333E-124DDBEA4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5496F-4C05-8580-4E90-1456118C6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FFA0-136F-462E-B8C6-AE8ED6E68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73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C99DD-8E1F-F658-6E5C-9DC2DA5FD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909A5-2D2E-1458-CDE1-404F2DDEE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445EC0-FA97-EFA8-CD3A-7C96D9E540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33290E-2A42-5134-CB6B-FA1A965C6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ACB7E8-5695-0D70-3121-C9B873221E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15E5E8-317F-F534-8503-7FFC66B7D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179FA-4C10-4C72-9956-1EAAD56E4DC3}" type="datetime1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6A410D-7E54-2C45-3FAE-443912B8B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9176AD-9A8D-E29F-8C4C-24261ECFA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FFA0-136F-462E-B8C6-AE8ED6E68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905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E31FF-EFEC-07E3-4533-1CE9995AA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9D01AC-6B9F-E838-BF91-5858A009F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421C0-E583-46D4-AD3A-6351FF715111}" type="datetime1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3A07BF-F5BF-96F5-DDA0-B9635FF35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B082D9-3A29-7548-2085-FACA35BA3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FFA0-136F-462E-B8C6-AE8ED6E68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2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6024EF-C093-B34A-A80D-4BCC3A683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8E74A-8D36-471C-A9BB-FFC2061D197A}" type="datetime1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088C0-4781-92D9-1883-3A6250A2B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D02879-054C-2A23-CE9C-2E71A6FF4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FFA0-136F-462E-B8C6-AE8ED6E68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76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17FB6-F81D-B120-8B84-A39BC25AF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E90B6-7D22-4C8E-0E76-26AC82023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B6028D-0785-2F13-A893-9F3FC7BAA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9B461-E49B-1F04-3C17-133F37AAD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4CC08C-6E71-4964-B5FB-3F110CFB01CB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DF9C72-C3B1-2259-E6FA-9ACDBF5EF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B0595-05FB-7016-0708-C1440A01B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FFA0-136F-462E-B8C6-AE8ED6E68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390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11D68-6DC2-4DCC-DFC4-CF8903350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5D4B01-C867-C9F1-EE5E-9F7D2D5F5D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86596E-11C1-D689-346B-E943FD4D3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C168B-A4A5-4065-F86E-7D9E4BCBB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673D6-A370-4FD0-BF9E-EAB4213F7769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9555A-8FBE-2E8B-EC70-137561955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F5C487-78A9-A4AB-CF4C-05D436729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FFA0-136F-462E-B8C6-AE8ED6E68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024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EBC9B-9B30-E110-3106-D2021D57A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7E0EE1-C8DC-B892-F98B-3CDF08AA7B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24850-6650-A475-D6B9-3374EA579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20AB4-AFDA-4DF2-8A39-F3F4CBFAED99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5895D-EF7E-8AD4-A1A3-1C0EE66D8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875B1-9768-A23C-5B35-6B796B23B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FFA0-136F-462E-B8C6-AE8ED6E68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080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1EDE8A-CEFF-01E1-852E-CA074632B9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8CF18-4999-D417-A911-68B759FCC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DAD749-8C1A-0F03-0211-6D281979C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301B5-051F-4F33-9CB1-6F491D8F7E00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A8F4A-FE3B-9FE5-37D7-FB323ADA6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945D5-5549-DDF3-EC98-4AE81335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5FFA0-136F-462E-B8C6-AE8ED6E68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54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C5249D-345F-5C0B-0B83-D2DCFADCC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27AA7-7C87-ABFC-942C-8B9BFB5DE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C37C4-9928-F749-0F9C-2DB538CDA0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FA0A71-AA33-439A-BB3A-BEEA974D5FD0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67094-8636-6D87-7748-7EAE35953C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770BE-4271-34B6-F2CB-532EBC5884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B5FFA0-136F-462E-B8C6-AE8ED6E68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102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allpapers.com/indiana-university-bloomington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7CAAE1-FC31-1FBD-3F66-2013AC7349E1}"/>
              </a:ext>
            </a:extLst>
          </p:cNvPr>
          <p:cNvSpPr/>
          <p:nvPr/>
        </p:nvSpPr>
        <p:spPr>
          <a:xfrm>
            <a:off x="8261914" y="1238865"/>
            <a:ext cx="3960489" cy="5619135"/>
          </a:xfrm>
          <a:prstGeom prst="rect">
            <a:avLst/>
          </a:prstGeom>
          <a:solidFill>
            <a:schemeClr val="bg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walkway with flowers and trees&#10;&#10;AI-generated content may be incorrect.">
            <a:extLst>
              <a:ext uri="{FF2B5EF4-FFF2-40B4-BE49-F238E27FC236}">
                <a16:creationId xmlns:a16="http://schemas.microsoft.com/office/drawing/2014/main" id="{34B73C8C-CF2A-8D8F-29FD-522CAC3E7F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0621" t="17103" r="7413" b="4204"/>
          <a:stretch>
            <a:fillRect/>
          </a:stretch>
        </p:blipFill>
        <p:spPr>
          <a:xfrm>
            <a:off x="-36501" y="1227484"/>
            <a:ext cx="8312843" cy="5630516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BE0E3F28-DA14-5B6C-756A-FCFDA8C532ED}"/>
              </a:ext>
            </a:extLst>
          </p:cNvPr>
          <p:cNvSpPr txBox="1">
            <a:spLocks/>
          </p:cNvSpPr>
          <p:nvPr/>
        </p:nvSpPr>
        <p:spPr>
          <a:xfrm>
            <a:off x="3335687" y="6035510"/>
            <a:ext cx="1568465" cy="10068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effectLst>
                  <a:glow rad="101600">
                    <a:schemeClr val="bg1">
                      <a:alpha val="60000"/>
                    </a:schemeClr>
                  </a:glow>
                </a:effectLst>
              </a:rPr>
              <a:t>Team 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715DC1-5B3E-BB46-7A7E-056B8C6BF6AA}"/>
              </a:ext>
            </a:extLst>
          </p:cNvPr>
          <p:cNvSpPr/>
          <p:nvPr/>
        </p:nvSpPr>
        <p:spPr>
          <a:xfrm>
            <a:off x="-1524" y="0"/>
            <a:ext cx="12192000" cy="1238865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5F8FA45-BEE2-884B-870E-FD6EDCE67131}"/>
              </a:ext>
            </a:extLst>
          </p:cNvPr>
          <p:cNvSpPr txBox="1">
            <a:spLocks/>
          </p:cNvSpPr>
          <p:nvPr/>
        </p:nvSpPr>
        <p:spPr>
          <a:xfrm>
            <a:off x="33451" y="0"/>
            <a:ext cx="12122049" cy="1238865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>
                <a:solidFill>
                  <a:srgbClr val="FFFFFF"/>
                </a:solidFill>
              </a:rPr>
              <a:t>Campus Resource Hub: Streamlining Discovery, </a:t>
            </a:r>
            <a:r>
              <a:rPr lang="en-US" sz="4000" b="1">
                <a:solidFill>
                  <a:srgbClr val="FFFFFF"/>
                </a:solidFill>
                <a:latin typeface="+mn-lt"/>
              </a:rPr>
              <a:t>Booking</a:t>
            </a:r>
            <a:r>
              <a:rPr lang="en-US" sz="4000" b="1">
                <a:solidFill>
                  <a:srgbClr val="FFFFFF"/>
                </a:solidFill>
              </a:rPr>
              <a:t>, and Management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84A06D-0C81-757D-C453-5C3A695C5896}"/>
              </a:ext>
            </a:extLst>
          </p:cNvPr>
          <p:cNvSpPr txBox="1"/>
          <p:nvPr/>
        </p:nvSpPr>
        <p:spPr>
          <a:xfrm>
            <a:off x="8314367" y="1460599"/>
            <a:ext cx="384113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User Access</a:t>
            </a:r>
            <a:endParaRPr lang="en-US" dirty="0"/>
          </a:p>
          <a:p>
            <a:pPr marL="515938" indent="-171450">
              <a:buFont typeface="Arial" panose="020B0604020202020204" pitchFamily="34" charset="0"/>
              <a:buChar char="•"/>
            </a:pPr>
            <a:r>
              <a:rPr lang="en-US" dirty="0"/>
              <a:t>Role-based register/login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Discovery &amp; Creation</a:t>
            </a:r>
            <a:endParaRPr lang="en-US" dirty="0"/>
          </a:p>
          <a:p>
            <a:pPr marL="515938" indent="-171450">
              <a:buFont typeface="Arial" panose="020B0604020202020204" pitchFamily="34" charset="0"/>
              <a:buChar char="•"/>
            </a:pPr>
            <a:r>
              <a:rPr lang="en-US" dirty="0"/>
              <a:t>Search and explore resources</a:t>
            </a:r>
          </a:p>
          <a:p>
            <a:pPr marL="515938" indent="-171450">
              <a:buFont typeface="Arial" panose="020B0604020202020204" pitchFamily="34" charset="0"/>
              <a:buChar char="•"/>
            </a:pPr>
            <a:r>
              <a:rPr lang="en-US" dirty="0"/>
              <a:t>Create and publish resource listings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Booking Flow</a:t>
            </a:r>
            <a:endParaRPr lang="en-US" dirty="0"/>
          </a:p>
          <a:p>
            <a:pPr marL="515938" indent="-171450">
              <a:buFont typeface="Arial" panose="020B0604020202020204" pitchFamily="34" charset="0"/>
              <a:buChar char="•"/>
            </a:pPr>
            <a:r>
              <a:rPr lang="en-US" dirty="0"/>
              <a:t>Book with real-time availability</a:t>
            </a:r>
          </a:p>
          <a:p>
            <a:pPr marL="515938" indent="-171450">
              <a:buFont typeface="Arial" panose="020B0604020202020204" pitchFamily="34" charset="0"/>
              <a:buChar char="•"/>
            </a:pPr>
            <a:r>
              <a:rPr lang="en-US" dirty="0"/>
              <a:t>Join waitlists for full resources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Governance &amp; Communication</a:t>
            </a:r>
            <a:endParaRPr lang="en-US" dirty="0"/>
          </a:p>
          <a:p>
            <a:pPr marL="515938" indent="-171450">
              <a:buFont typeface="Arial" panose="020B0604020202020204" pitchFamily="34" charset="0"/>
              <a:buChar char="•"/>
            </a:pPr>
            <a:r>
              <a:rPr lang="en-US" dirty="0"/>
              <a:t>Admin approval for restricted bookings</a:t>
            </a:r>
          </a:p>
          <a:p>
            <a:pPr marL="515938" indent="-171450">
              <a:buFont typeface="Arial" panose="020B0604020202020204" pitchFamily="34" charset="0"/>
              <a:buChar char="•"/>
            </a:pPr>
            <a:r>
              <a:rPr lang="en-US" dirty="0"/>
              <a:t>In-app messaging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Smart Enhancements</a:t>
            </a:r>
            <a:endParaRPr lang="en-US" dirty="0"/>
          </a:p>
          <a:p>
            <a:pPr marL="515938" indent="-171450">
              <a:buFont typeface="Arial" panose="020B0604020202020204" pitchFamily="34" charset="0"/>
              <a:buChar char="•"/>
            </a:pPr>
            <a:r>
              <a:rPr lang="en-US" dirty="0"/>
              <a:t>AI Concierge for resource bookings</a:t>
            </a:r>
          </a:p>
          <a:p>
            <a:pPr marL="515938" indent="-171450">
              <a:buFont typeface="Arial" panose="020B0604020202020204" pitchFamily="34" charset="0"/>
              <a:buChar char="•"/>
            </a:pPr>
            <a:r>
              <a:rPr lang="en-US" dirty="0"/>
              <a:t>iCal export for calendar integration</a:t>
            </a:r>
          </a:p>
        </p:txBody>
      </p:sp>
    </p:spTree>
    <p:extLst>
      <p:ext uri="{BB962C8B-B14F-4D97-AF65-F5344CB8AC3E}">
        <p14:creationId xmlns:p14="http://schemas.microsoft.com/office/powerpoint/2010/main" val="2684843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D63C0-BFE8-C764-9840-D514ECD59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3D15C7-C27C-43E0-C9C1-2CF21635D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5815"/>
            <a:ext cx="2743200" cy="365125"/>
          </a:xfrm>
        </p:spPr>
        <p:txBody>
          <a:bodyPr/>
          <a:lstStyle/>
          <a:p>
            <a:fld id="{D0B5FFA0-136F-462E-B8C6-AE8ED6E6891F}" type="slidenum">
              <a:rPr lang="en-US" smtClean="0"/>
              <a:t>2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019F87-FF5B-2F62-8C88-7B87752FB71B}"/>
              </a:ext>
            </a:extLst>
          </p:cNvPr>
          <p:cNvSpPr/>
          <p:nvPr/>
        </p:nvSpPr>
        <p:spPr>
          <a:xfrm>
            <a:off x="0" y="1"/>
            <a:ext cx="12192000" cy="1078992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Campus Resource Hub enables students, staff, and administrators to manage campus bookings efficiently</a:t>
            </a:r>
          </a:p>
        </p:txBody>
      </p:sp>
      <p:graphicFrame>
        <p:nvGraphicFramePr>
          <p:cNvPr id="4" name="TextBox 2">
            <a:extLst>
              <a:ext uri="{FF2B5EF4-FFF2-40B4-BE49-F238E27FC236}">
                <a16:creationId xmlns:a16="http://schemas.microsoft.com/office/drawing/2014/main" id="{BE529FCF-1029-B4F0-9EF5-AF8F8AED52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05969333"/>
              </p:ext>
            </p:extLst>
          </p:nvPr>
        </p:nvGraphicFramePr>
        <p:xfrm>
          <a:off x="173974" y="1260756"/>
          <a:ext cx="4136136" cy="52350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722A0C4-4715-A3DB-609E-AFA06CC179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428" y="4104169"/>
            <a:ext cx="7441256" cy="2115744"/>
          </a:xfrm>
          <a:prstGeom prst="rect">
            <a:avLst/>
          </a:prstGeom>
          <a:ln>
            <a:solidFill>
              <a:srgbClr val="990000"/>
            </a:solidFill>
          </a:ln>
        </p:spPr>
      </p:pic>
      <p:pic>
        <p:nvPicPr>
          <p:cNvPr id="6" name="Picture 5" descr="A screenshot of a login page&#10;&#10;AI-generated content may be incorrect.">
            <a:extLst>
              <a:ext uri="{FF2B5EF4-FFF2-40B4-BE49-F238E27FC236}">
                <a16:creationId xmlns:a16="http://schemas.microsoft.com/office/drawing/2014/main" id="{70AF3868-5730-5A23-1EFE-138240FE78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7798" y="1509878"/>
            <a:ext cx="3757885" cy="2473300"/>
          </a:xfrm>
          <a:prstGeom prst="rect">
            <a:avLst/>
          </a:prstGeom>
          <a:ln>
            <a:solidFill>
              <a:srgbClr val="990000"/>
            </a:solidFill>
          </a:ln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D40FFF-8D3E-0544-7D7B-9919F32FF7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427" y="1509878"/>
            <a:ext cx="3645500" cy="2473300"/>
          </a:xfrm>
          <a:prstGeom prst="rect">
            <a:avLst/>
          </a:prstGeom>
          <a:ln>
            <a:solidFill>
              <a:srgbClr val="990000"/>
            </a:solidFill>
          </a:ln>
        </p:spPr>
      </p:pic>
    </p:spTree>
    <p:extLst>
      <p:ext uri="{BB962C8B-B14F-4D97-AF65-F5344CB8AC3E}">
        <p14:creationId xmlns:p14="http://schemas.microsoft.com/office/powerpoint/2010/main" val="2079456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8FB95-FE40-B86E-ECC3-3D10B76CF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336DE5-22B0-C433-DC58-645EE936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5815"/>
            <a:ext cx="2743200" cy="365125"/>
          </a:xfrm>
        </p:spPr>
        <p:txBody>
          <a:bodyPr/>
          <a:lstStyle/>
          <a:p>
            <a:fld id="{D0B5FFA0-136F-462E-B8C6-AE8ED6E6891F}" type="slidenum">
              <a:rPr lang="en-US" smtClean="0"/>
              <a:t>3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72FA494-00FC-4020-44F9-104C2E6E141A}"/>
              </a:ext>
            </a:extLst>
          </p:cNvPr>
          <p:cNvSpPr/>
          <p:nvPr/>
        </p:nvSpPr>
        <p:spPr>
          <a:xfrm>
            <a:off x="0" y="1"/>
            <a:ext cx="12192000" cy="1078992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Students can easily search for resources, submit booking requests, and manage their reservations in one place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6BB0390-98C4-E738-EF4E-8D15514C5D9B}"/>
              </a:ext>
            </a:extLst>
          </p:cNvPr>
          <p:cNvGrpSpPr/>
          <p:nvPr/>
        </p:nvGrpSpPr>
        <p:grpSpPr>
          <a:xfrm>
            <a:off x="152029" y="1260756"/>
            <a:ext cx="4136136" cy="5235059"/>
            <a:chOff x="152029" y="1260756"/>
            <a:chExt cx="4136136" cy="523505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D39F6D2-FCD2-0CE4-29FA-793BC7A776A2}"/>
                </a:ext>
              </a:extLst>
            </p:cNvPr>
            <p:cNvSpPr/>
            <p:nvPr/>
          </p:nvSpPr>
          <p:spPr>
            <a:xfrm>
              <a:off x="152029" y="1260756"/>
              <a:ext cx="4136136" cy="5235059"/>
            </a:xfrm>
            <a:prstGeom prst="rect">
              <a:avLst/>
            </a:prstGeom>
            <a:no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8B2F69E-60AB-5D7E-0A6E-B52951647232}"/>
                </a:ext>
              </a:extLst>
            </p:cNvPr>
            <p:cNvSpPr/>
            <p:nvPr/>
          </p:nvSpPr>
          <p:spPr>
            <a:xfrm>
              <a:off x="2005088" y="2293753"/>
              <a:ext cx="395817" cy="91440"/>
            </a:xfrm>
            <a:custGeom>
              <a:avLst/>
              <a:gdLst>
                <a:gd name="connsiteX0" fmla="*/ 0 w 395817"/>
                <a:gd name="connsiteY0" fmla="*/ 45720 h 91440"/>
                <a:gd name="connsiteX1" fmla="*/ 395817 w 395817"/>
                <a:gd name="connsiteY1" fmla="*/ 45720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5817" h="91440">
                  <a:moveTo>
                    <a:pt x="0" y="45720"/>
                  </a:moveTo>
                  <a:lnTo>
                    <a:pt x="395817" y="45720"/>
                  </a:lnTo>
                </a:path>
              </a:pathLst>
            </a:custGeom>
            <a:noFill/>
            <a:ln>
              <a:solidFill>
                <a:srgbClr val="990000"/>
              </a:solidFill>
              <a:tailEnd type="arrow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948" tIns="43588" rIns="199949" bIns="43588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b="0" kern="120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EA439DB-C89C-7D6C-6936-B770EE3FA570}"/>
                </a:ext>
              </a:extLst>
            </p:cNvPr>
            <p:cNvSpPr/>
            <p:nvPr/>
          </p:nvSpPr>
          <p:spPr>
            <a:xfrm>
              <a:off x="152897" y="1783276"/>
              <a:ext cx="1853990" cy="1112394"/>
            </a:xfrm>
            <a:custGeom>
              <a:avLst/>
              <a:gdLst>
                <a:gd name="connsiteX0" fmla="*/ 0 w 1853990"/>
                <a:gd name="connsiteY0" fmla="*/ 0 h 1112394"/>
                <a:gd name="connsiteX1" fmla="*/ 1853990 w 1853990"/>
                <a:gd name="connsiteY1" fmla="*/ 0 h 1112394"/>
                <a:gd name="connsiteX2" fmla="*/ 1853990 w 1853990"/>
                <a:gd name="connsiteY2" fmla="*/ 1112394 h 1112394"/>
                <a:gd name="connsiteX3" fmla="*/ 0 w 1853990"/>
                <a:gd name="connsiteY3" fmla="*/ 1112394 h 1112394"/>
                <a:gd name="connsiteX4" fmla="*/ 0 w 1853990"/>
                <a:gd name="connsiteY4" fmla="*/ 0 h 111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990" h="1112394">
                  <a:moveTo>
                    <a:pt x="0" y="0"/>
                  </a:moveTo>
                  <a:lnTo>
                    <a:pt x="1853990" y="0"/>
                  </a:lnTo>
                  <a:lnTo>
                    <a:pt x="1853990" y="1112394"/>
                  </a:lnTo>
                  <a:lnTo>
                    <a:pt x="0" y="1112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847" tIns="95360" rIns="90847" bIns="95360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0" kern="1200" dirty="0">
                  <a:solidFill>
                    <a:schemeClr val="tx1"/>
                  </a:solidFill>
                </a:rPr>
                <a:t>Choose a resource &amp; select a time slot</a:t>
              </a: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5C6E492-84E6-FEC1-10E8-22C029E7DC6F}"/>
                </a:ext>
              </a:extLst>
            </p:cNvPr>
            <p:cNvSpPr/>
            <p:nvPr/>
          </p:nvSpPr>
          <p:spPr>
            <a:xfrm>
              <a:off x="1079892" y="2893870"/>
              <a:ext cx="2280408" cy="395817"/>
            </a:xfrm>
            <a:custGeom>
              <a:avLst/>
              <a:gdLst>
                <a:gd name="connsiteX0" fmla="*/ 2280408 w 2280408"/>
                <a:gd name="connsiteY0" fmla="*/ 0 h 395817"/>
                <a:gd name="connsiteX1" fmla="*/ 2280408 w 2280408"/>
                <a:gd name="connsiteY1" fmla="*/ 215008 h 395817"/>
                <a:gd name="connsiteX2" fmla="*/ 0 w 2280408"/>
                <a:gd name="connsiteY2" fmla="*/ 215008 h 395817"/>
                <a:gd name="connsiteX3" fmla="*/ 0 w 2280408"/>
                <a:gd name="connsiteY3" fmla="*/ 395817 h 395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0408" h="395817">
                  <a:moveTo>
                    <a:pt x="2280408" y="0"/>
                  </a:moveTo>
                  <a:lnTo>
                    <a:pt x="2280408" y="215008"/>
                  </a:lnTo>
                  <a:lnTo>
                    <a:pt x="0" y="215008"/>
                  </a:lnTo>
                  <a:lnTo>
                    <a:pt x="0" y="395817"/>
                  </a:lnTo>
                </a:path>
              </a:pathLst>
            </a:custGeom>
            <a:noFill/>
            <a:ln>
              <a:solidFill>
                <a:srgbClr val="990000"/>
              </a:solidFill>
              <a:tailEnd type="arrow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94906" tIns="195777" rIns="1094906" bIns="195776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b="0" kern="1200">
                <a:solidFill>
                  <a:schemeClr val="tx1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D3601D8-8AA8-96EA-728F-10630A1EC65A}"/>
                </a:ext>
              </a:extLst>
            </p:cNvPr>
            <p:cNvSpPr/>
            <p:nvPr/>
          </p:nvSpPr>
          <p:spPr>
            <a:xfrm>
              <a:off x="2433305" y="1783276"/>
              <a:ext cx="1853990" cy="1112394"/>
            </a:xfrm>
            <a:custGeom>
              <a:avLst/>
              <a:gdLst>
                <a:gd name="connsiteX0" fmla="*/ 0 w 1853990"/>
                <a:gd name="connsiteY0" fmla="*/ 0 h 1112394"/>
                <a:gd name="connsiteX1" fmla="*/ 1853990 w 1853990"/>
                <a:gd name="connsiteY1" fmla="*/ 0 h 1112394"/>
                <a:gd name="connsiteX2" fmla="*/ 1853990 w 1853990"/>
                <a:gd name="connsiteY2" fmla="*/ 1112394 h 1112394"/>
                <a:gd name="connsiteX3" fmla="*/ 0 w 1853990"/>
                <a:gd name="connsiteY3" fmla="*/ 1112394 h 1112394"/>
                <a:gd name="connsiteX4" fmla="*/ 0 w 1853990"/>
                <a:gd name="connsiteY4" fmla="*/ 0 h 111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990" h="1112394">
                  <a:moveTo>
                    <a:pt x="0" y="0"/>
                  </a:moveTo>
                  <a:lnTo>
                    <a:pt x="1853990" y="0"/>
                  </a:lnTo>
                  <a:lnTo>
                    <a:pt x="1853990" y="1112394"/>
                  </a:lnTo>
                  <a:lnTo>
                    <a:pt x="0" y="1112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1288723"/>
                <a:satOff val="-3699"/>
                <a:lumOff val="-592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847" tIns="95360" rIns="90847" bIns="95360" numCol="1" spcCol="1270" anchor="ctr" anchorCtr="0">
              <a:noAutofit/>
            </a:bodyPr>
            <a:lstStyle/>
            <a:p>
              <a:pPr lvl="0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>
                  <a:solidFill>
                    <a:schemeClr val="tx1"/>
                  </a:solidFill>
                </a:rPr>
                <a:t>Submit a booking request</a:t>
              </a:r>
              <a:endParaRPr lang="en-US" sz="1600" b="0" kern="1200" dirty="0">
                <a:solidFill>
                  <a:schemeClr val="tx1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CA92F81-039A-D87D-F766-14932E27065C}"/>
                </a:ext>
              </a:extLst>
            </p:cNvPr>
            <p:cNvSpPr/>
            <p:nvPr/>
          </p:nvSpPr>
          <p:spPr>
            <a:xfrm>
              <a:off x="2005088" y="3832565"/>
              <a:ext cx="395817" cy="91440"/>
            </a:xfrm>
            <a:custGeom>
              <a:avLst/>
              <a:gdLst>
                <a:gd name="connsiteX0" fmla="*/ 0 w 395817"/>
                <a:gd name="connsiteY0" fmla="*/ 45720 h 91440"/>
                <a:gd name="connsiteX1" fmla="*/ 395817 w 395817"/>
                <a:gd name="connsiteY1" fmla="*/ 45720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5817" h="91440">
                  <a:moveTo>
                    <a:pt x="0" y="45720"/>
                  </a:moveTo>
                  <a:lnTo>
                    <a:pt x="395817" y="45720"/>
                  </a:lnTo>
                </a:path>
              </a:pathLst>
            </a:custGeom>
            <a:noFill/>
            <a:ln>
              <a:solidFill>
                <a:srgbClr val="990000"/>
              </a:solidFill>
              <a:tailEnd type="arrow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948" tIns="43588" rIns="199949" bIns="43588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b="0" kern="1200">
                <a:solidFill>
                  <a:schemeClr val="tx1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4A41750-1C3B-D9D0-4423-91A7723F69E8}"/>
                </a:ext>
              </a:extLst>
            </p:cNvPr>
            <p:cNvSpPr/>
            <p:nvPr/>
          </p:nvSpPr>
          <p:spPr>
            <a:xfrm>
              <a:off x="152897" y="3322088"/>
              <a:ext cx="1853990" cy="1112394"/>
            </a:xfrm>
            <a:custGeom>
              <a:avLst/>
              <a:gdLst>
                <a:gd name="connsiteX0" fmla="*/ 0 w 1853990"/>
                <a:gd name="connsiteY0" fmla="*/ 0 h 1112394"/>
                <a:gd name="connsiteX1" fmla="*/ 1853990 w 1853990"/>
                <a:gd name="connsiteY1" fmla="*/ 0 h 1112394"/>
                <a:gd name="connsiteX2" fmla="*/ 1853990 w 1853990"/>
                <a:gd name="connsiteY2" fmla="*/ 1112394 h 1112394"/>
                <a:gd name="connsiteX3" fmla="*/ 0 w 1853990"/>
                <a:gd name="connsiteY3" fmla="*/ 1112394 h 1112394"/>
                <a:gd name="connsiteX4" fmla="*/ 0 w 1853990"/>
                <a:gd name="connsiteY4" fmla="*/ 0 h 111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990" h="1112394">
                  <a:moveTo>
                    <a:pt x="0" y="0"/>
                  </a:moveTo>
                  <a:lnTo>
                    <a:pt x="1853990" y="0"/>
                  </a:lnTo>
                  <a:lnTo>
                    <a:pt x="1853990" y="1112394"/>
                  </a:lnTo>
                  <a:lnTo>
                    <a:pt x="0" y="1112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2577445"/>
                <a:satOff val="-7397"/>
                <a:lumOff val="-11844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847" tIns="95360" rIns="90847" bIns="95360" numCol="1" spcCol="1270" anchor="ctr" anchorCtr="0">
              <a:noAutofit/>
            </a:bodyPr>
            <a:lstStyle/>
            <a:p>
              <a:pPr lvl="0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600" dirty="0">
                <a:solidFill>
                  <a:schemeClr val="tx1"/>
                </a:solidFill>
              </a:endParaRPr>
            </a:p>
            <a:p>
              <a:pPr lvl="0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>
                  <a:solidFill>
                    <a:schemeClr val="tx1"/>
                  </a:solidFill>
                </a:rPr>
                <a:t>Booking status updates </a:t>
              </a:r>
            </a:p>
            <a:p>
              <a:pPr lvl="0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>
                  <a:solidFill>
                    <a:schemeClr val="tx1"/>
                  </a:solidFill>
                </a:rPr>
                <a:t>(Pending → Approved/Active)</a:t>
              </a:r>
              <a:br>
                <a:rPr lang="en-US" sz="1600" dirty="0"/>
              </a:br>
              <a:endParaRPr lang="en-US" sz="1600" b="0" kern="1200" dirty="0">
                <a:solidFill>
                  <a:schemeClr val="tx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37A22D5-79CA-4CF9-C73A-314D0E0E46DA}"/>
                </a:ext>
              </a:extLst>
            </p:cNvPr>
            <p:cNvSpPr/>
            <p:nvPr/>
          </p:nvSpPr>
          <p:spPr>
            <a:xfrm>
              <a:off x="1079892" y="4432682"/>
              <a:ext cx="2280408" cy="395817"/>
            </a:xfrm>
            <a:custGeom>
              <a:avLst/>
              <a:gdLst>
                <a:gd name="connsiteX0" fmla="*/ 2280408 w 2280408"/>
                <a:gd name="connsiteY0" fmla="*/ 0 h 395817"/>
                <a:gd name="connsiteX1" fmla="*/ 2280408 w 2280408"/>
                <a:gd name="connsiteY1" fmla="*/ 215008 h 395817"/>
                <a:gd name="connsiteX2" fmla="*/ 0 w 2280408"/>
                <a:gd name="connsiteY2" fmla="*/ 215008 h 395817"/>
                <a:gd name="connsiteX3" fmla="*/ 0 w 2280408"/>
                <a:gd name="connsiteY3" fmla="*/ 395817 h 395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0408" h="395817">
                  <a:moveTo>
                    <a:pt x="2280408" y="0"/>
                  </a:moveTo>
                  <a:lnTo>
                    <a:pt x="2280408" y="215008"/>
                  </a:lnTo>
                  <a:lnTo>
                    <a:pt x="0" y="215008"/>
                  </a:lnTo>
                  <a:lnTo>
                    <a:pt x="0" y="395817"/>
                  </a:lnTo>
                </a:path>
              </a:pathLst>
            </a:custGeom>
            <a:noFill/>
            <a:ln>
              <a:solidFill>
                <a:srgbClr val="990000"/>
              </a:solidFill>
              <a:tailEnd type="arrow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94906" tIns="195777" rIns="1094906" bIns="195776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b="0" kern="1200">
                <a:solidFill>
                  <a:schemeClr val="tx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F33057B-B24B-E986-1094-A257F3AC4469}"/>
                </a:ext>
              </a:extLst>
            </p:cNvPr>
            <p:cNvSpPr/>
            <p:nvPr/>
          </p:nvSpPr>
          <p:spPr>
            <a:xfrm>
              <a:off x="2433305" y="3322088"/>
              <a:ext cx="1853990" cy="1112394"/>
            </a:xfrm>
            <a:custGeom>
              <a:avLst/>
              <a:gdLst>
                <a:gd name="connsiteX0" fmla="*/ 0 w 1853990"/>
                <a:gd name="connsiteY0" fmla="*/ 0 h 1112394"/>
                <a:gd name="connsiteX1" fmla="*/ 1853990 w 1853990"/>
                <a:gd name="connsiteY1" fmla="*/ 0 h 1112394"/>
                <a:gd name="connsiteX2" fmla="*/ 1853990 w 1853990"/>
                <a:gd name="connsiteY2" fmla="*/ 1112394 h 1112394"/>
                <a:gd name="connsiteX3" fmla="*/ 0 w 1853990"/>
                <a:gd name="connsiteY3" fmla="*/ 1112394 h 1112394"/>
                <a:gd name="connsiteX4" fmla="*/ 0 w 1853990"/>
                <a:gd name="connsiteY4" fmla="*/ 0 h 111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990" h="1112394">
                  <a:moveTo>
                    <a:pt x="0" y="0"/>
                  </a:moveTo>
                  <a:lnTo>
                    <a:pt x="1853990" y="0"/>
                  </a:lnTo>
                  <a:lnTo>
                    <a:pt x="1853990" y="1112394"/>
                  </a:lnTo>
                  <a:lnTo>
                    <a:pt x="0" y="1112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3866169"/>
                <a:satOff val="-11096"/>
                <a:lumOff val="-1776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847" tIns="95360" rIns="90847" bIns="95360" numCol="1" spcCol="1270" anchor="ctr" anchorCtr="0">
              <a:noAutofit/>
            </a:bodyPr>
            <a:lstStyle/>
            <a:p>
              <a:pPr lvl="0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>
                  <a:solidFill>
                    <a:schemeClr val="tx1"/>
                  </a:solidFill>
                </a:rPr>
                <a:t>If full → Join waitlist</a:t>
              </a:r>
              <a:endParaRPr lang="en-US" sz="1600" b="0" kern="1200" dirty="0">
                <a:solidFill>
                  <a:schemeClr val="tx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B36A4DA-9378-B86A-9216-90AD6C6C6FB5}"/>
                </a:ext>
              </a:extLst>
            </p:cNvPr>
            <p:cNvSpPr/>
            <p:nvPr/>
          </p:nvSpPr>
          <p:spPr>
            <a:xfrm>
              <a:off x="2005088" y="5371377"/>
              <a:ext cx="395817" cy="91440"/>
            </a:xfrm>
            <a:custGeom>
              <a:avLst/>
              <a:gdLst>
                <a:gd name="connsiteX0" fmla="*/ 0 w 395817"/>
                <a:gd name="connsiteY0" fmla="*/ 45720 h 91440"/>
                <a:gd name="connsiteX1" fmla="*/ 395817 w 395817"/>
                <a:gd name="connsiteY1" fmla="*/ 45720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5817" h="91440">
                  <a:moveTo>
                    <a:pt x="0" y="45720"/>
                  </a:moveTo>
                  <a:lnTo>
                    <a:pt x="395817" y="45720"/>
                  </a:lnTo>
                </a:path>
              </a:pathLst>
            </a:custGeom>
            <a:noFill/>
            <a:ln>
              <a:solidFill>
                <a:srgbClr val="990000"/>
              </a:solidFill>
              <a:tailEnd type="arrow"/>
            </a:ln>
          </p:spPr>
          <p:style>
            <a:lnRef idx="1">
              <a:schemeClr val="accent2">
                <a:hueOff val="6443614"/>
                <a:satOff val="-18493"/>
                <a:lumOff val="-29609"/>
                <a:alphaOff val="0"/>
              </a:schemeClr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948" tIns="43588" rIns="199949" bIns="43588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500" b="0" kern="1200">
                <a:solidFill>
                  <a:schemeClr val="tx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9523F8C-C3E8-8A7A-DED8-B6969D158872}"/>
                </a:ext>
              </a:extLst>
            </p:cNvPr>
            <p:cNvSpPr/>
            <p:nvPr/>
          </p:nvSpPr>
          <p:spPr>
            <a:xfrm>
              <a:off x="152897" y="4860900"/>
              <a:ext cx="1853990" cy="1112394"/>
            </a:xfrm>
            <a:custGeom>
              <a:avLst/>
              <a:gdLst>
                <a:gd name="connsiteX0" fmla="*/ 0 w 1853990"/>
                <a:gd name="connsiteY0" fmla="*/ 0 h 1112394"/>
                <a:gd name="connsiteX1" fmla="*/ 1853990 w 1853990"/>
                <a:gd name="connsiteY1" fmla="*/ 0 h 1112394"/>
                <a:gd name="connsiteX2" fmla="*/ 1853990 w 1853990"/>
                <a:gd name="connsiteY2" fmla="*/ 1112394 h 1112394"/>
                <a:gd name="connsiteX3" fmla="*/ 0 w 1853990"/>
                <a:gd name="connsiteY3" fmla="*/ 1112394 h 1112394"/>
                <a:gd name="connsiteX4" fmla="*/ 0 w 1853990"/>
                <a:gd name="connsiteY4" fmla="*/ 0 h 111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990" h="1112394">
                  <a:moveTo>
                    <a:pt x="0" y="0"/>
                  </a:moveTo>
                  <a:lnTo>
                    <a:pt x="1853990" y="0"/>
                  </a:lnTo>
                  <a:lnTo>
                    <a:pt x="1853990" y="1112394"/>
                  </a:lnTo>
                  <a:lnTo>
                    <a:pt x="0" y="1112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5154891"/>
                <a:satOff val="-14794"/>
                <a:lumOff val="-23687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847" tIns="95360" rIns="90847" bIns="95360" numCol="1" spcCol="1270" anchor="ctr" anchorCtr="0">
              <a:noAutofit/>
            </a:bodyPr>
            <a:lstStyle/>
            <a:p>
              <a:pPr lvl="0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>
                  <a:solidFill>
                    <a:schemeClr val="tx1"/>
                  </a:solidFill>
                </a:rPr>
                <a:t>Receive notifications for approvals or openings</a:t>
              </a:r>
              <a:endParaRPr lang="en-US" sz="1600" b="0" kern="1200" dirty="0">
                <a:solidFill>
                  <a:schemeClr val="tx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4242B02-F175-1311-BA99-BE0D0A3E5006}"/>
                </a:ext>
              </a:extLst>
            </p:cNvPr>
            <p:cNvSpPr/>
            <p:nvPr/>
          </p:nvSpPr>
          <p:spPr>
            <a:xfrm>
              <a:off x="2433305" y="4860900"/>
              <a:ext cx="1853990" cy="1112394"/>
            </a:xfrm>
            <a:custGeom>
              <a:avLst/>
              <a:gdLst>
                <a:gd name="connsiteX0" fmla="*/ 0 w 1853990"/>
                <a:gd name="connsiteY0" fmla="*/ 0 h 1112394"/>
                <a:gd name="connsiteX1" fmla="*/ 1853990 w 1853990"/>
                <a:gd name="connsiteY1" fmla="*/ 0 h 1112394"/>
                <a:gd name="connsiteX2" fmla="*/ 1853990 w 1853990"/>
                <a:gd name="connsiteY2" fmla="*/ 1112394 h 1112394"/>
                <a:gd name="connsiteX3" fmla="*/ 0 w 1853990"/>
                <a:gd name="connsiteY3" fmla="*/ 1112394 h 1112394"/>
                <a:gd name="connsiteX4" fmla="*/ 0 w 1853990"/>
                <a:gd name="connsiteY4" fmla="*/ 0 h 111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990" h="1112394">
                  <a:moveTo>
                    <a:pt x="0" y="0"/>
                  </a:moveTo>
                  <a:lnTo>
                    <a:pt x="1853990" y="0"/>
                  </a:lnTo>
                  <a:lnTo>
                    <a:pt x="1853990" y="1112394"/>
                  </a:lnTo>
                  <a:lnTo>
                    <a:pt x="0" y="1112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6443614"/>
                <a:satOff val="-18493"/>
                <a:lumOff val="-29609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847" tIns="95360" rIns="90847" bIns="95360" numCol="1" spcCol="1270" anchor="ctr" anchorCtr="0">
              <a:noAutofit/>
            </a:bodyPr>
            <a:lstStyle/>
            <a:p>
              <a:pPr lvl="0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>
                  <a:solidFill>
                    <a:schemeClr val="tx1"/>
                  </a:solidFill>
                </a:rPr>
                <a:t>View or cancel bookings in dashboard</a:t>
              </a:r>
              <a:endParaRPr lang="en-US" sz="1600" kern="12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4EEF8B3-0916-FB95-A4F6-85FF5CDB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1589" y="1545233"/>
            <a:ext cx="2902807" cy="4666103"/>
          </a:xfrm>
          <a:prstGeom prst="rect">
            <a:avLst/>
          </a:prstGeom>
          <a:ln>
            <a:solidFill>
              <a:srgbClr val="990000"/>
            </a:solidFill>
          </a:ln>
        </p:spPr>
      </p:pic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56C29A1-F443-8A07-E146-974518CE2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378" y="4040386"/>
            <a:ext cx="4801216" cy="1422431"/>
          </a:xfrm>
          <a:prstGeom prst="rect">
            <a:avLst/>
          </a:prstGeom>
          <a:ln>
            <a:solidFill>
              <a:srgbClr val="990000"/>
            </a:solidFill>
          </a:ln>
        </p:spPr>
      </p:pic>
      <p:pic>
        <p:nvPicPr>
          <p:cNvPr id="23" name="Picture 22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EE9CBE0C-E471-0214-6108-C8192662D7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2379" y="2435592"/>
            <a:ext cx="4801215" cy="1488413"/>
          </a:xfrm>
          <a:prstGeom prst="rect">
            <a:avLst/>
          </a:prstGeom>
          <a:ln>
            <a:solidFill>
              <a:srgbClr val="990000"/>
            </a:solidFill>
          </a:ln>
        </p:spPr>
      </p:pic>
    </p:spTree>
    <p:extLst>
      <p:ext uri="{BB962C8B-B14F-4D97-AF65-F5344CB8AC3E}">
        <p14:creationId xmlns:p14="http://schemas.microsoft.com/office/powerpoint/2010/main" val="3348548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169AC-5A9B-EFFF-32D6-A3DE65B23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4E2CDB-8060-0CC8-5987-B3D4E36F5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5815"/>
            <a:ext cx="2743200" cy="365125"/>
          </a:xfrm>
        </p:spPr>
        <p:txBody>
          <a:bodyPr/>
          <a:lstStyle/>
          <a:p>
            <a:fld id="{D0B5FFA0-136F-462E-B8C6-AE8ED6E6891F}" type="slidenum">
              <a:rPr lang="en-US" smtClean="0"/>
              <a:t>4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023D24-4194-1189-1F49-DC2B714C6C93}"/>
              </a:ext>
            </a:extLst>
          </p:cNvPr>
          <p:cNvSpPr/>
          <p:nvPr/>
        </p:nvSpPr>
        <p:spPr>
          <a:xfrm>
            <a:off x="0" y="1"/>
            <a:ext cx="12192000" cy="1078992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Staff can efficiently create and publish new resources for students to book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8C9567B-37FA-31C0-455B-AF9DE0711E66}"/>
              </a:ext>
            </a:extLst>
          </p:cNvPr>
          <p:cNvGrpSpPr/>
          <p:nvPr/>
        </p:nvGrpSpPr>
        <p:grpSpPr>
          <a:xfrm>
            <a:off x="827161" y="1260755"/>
            <a:ext cx="4136136" cy="5235059"/>
            <a:chOff x="152029" y="1260756"/>
            <a:chExt cx="4136136" cy="523505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3492722-CF1B-DCB1-1110-DE0362F3939B}"/>
                </a:ext>
              </a:extLst>
            </p:cNvPr>
            <p:cNvSpPr/>
            <p:nvPr/>
          </p:nvSpPr>
          <p:spPr>
            <a:xfrm>
              <a:off x="152029" y="1260756"/>
              <a:ext cx="4136136" cy="5235059"/>
            </a:xfrm>
            <a:prstGeom prst="rect">
              <a:avLst/>
            </a:prstGeom>
            <a:noFill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262AF28-A60C-5754-4AB8-69ED233D214B}"/>
                </a:ext>
              </a:extLst>
            </p:cNvPr>
            <p:cNvSpPr/>
            <p:nvPr/>
          </p:nvSpPr>
          <p:spPr>
            <a:xfrm>
              <a:off x="2005088" y="2293753"/>
              <a:ext cx="395817" cy="91440"/>
            </a:xfrm>
            <a:custGeom>
              <a:avLst/>
              <a:gdLst>
                <a:gd name="connsiteX0" fmla="*/ 0 w 395817"/>
                <a:gd name="connsiteY0" fmla="*/ 45720 h 91440"/>
                <a:gd name="connsiteX1" fmla="*/ 395817 w 395817"/>
                <a:gd name="connsiteY1" fmla="*/ 45720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5817" h="91440">
                  <a:moveTo>
                    <a:pt x="0" y="45720"/>
                  </a:moveTo>
                  <a:lnTo>
                    <a:pt x="395817" y="45720"/>
                  </a:lnTo>
                </a:path>
              </a:pathLst>
            </a:custGeom>
            <a:noFill/>
            <a:ln>
              <a:solidFill>
                <a:srgbClr val="990000"/>
              </a:solidFill>
              <a:tailEnd type="arrow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948" tIns="43588" rIns="199949" bIns="43588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b="0" kern="1200">
                <a:solidFill>
                  <a:schemeClr val="tx1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99948CC-E57E-82AA-E2BE-235F2ADB56EC}"/>
                </a:ext>
              </a:extLst>
            </p:cNvPr>
            <p:cNvSpPr/>
            <p:nvPr/>
          </p:nvSpPr>
          <p:spPr>
            <a:xfrm>
              <a:off x="152897" y="1783276"/>
              <a:ext cx="1853990" cy="1112394"/>
            </a:xfrm>
            <a:custGeom>
              <a:avLst/>
              <a:gdLst>
                <a:gd name="connsiteX0" fmla="*/ 0 w 1853990"/>
                <a:gd name="connsiteY0" fmla="*/ 0 h 1112394"/>
                <a:gd name="connsiteX1" fmla="*/ 1853990 w 1853990"/>
                <a:gd name="connsiteY1" fmla="*/ 0 h 1112394"/>
                <a:gd name="connsiteX2" fmla="*/ 1853990 w 1853990"/>
                <a:gd name="connsiteY2" fmla="*/ 1112394 h 1112394"/>
                <a:gd name="connsiteX3" fmla="*/ 0 w 1853990"/>
                <a:gd name="connsiteY3" fmla="*/ 1112394 h 1112394"/>
                <a:gd name="connsiteX4" fmla="*/ 0 w 1853990"/>
                <a:gd name="connsiteY4" fmla="*/ 0 h 111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990" h="1112394">
                  <a:moveTo>
                    <a:pt x="0" y="0"/>
                  </a:moveTo>
                  <a:lnTo>
                    <a:pt x="1853990" y="0"/>
                  </a:lnTo>
                  <a:lnTo>
                    <a:pt x="1853990" y="1112394"/>
                  </a:lnTo>
                  <a:lnTo>
                    <a:pt x="0" y="1112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847" tIns="95360" rIns="90847" bIns="95360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0" kern="1200" dirty="0">
                  <a:solidFill>
                    <a:schemeClr val="tx1"/>
                  </a:solidFill>
                </a:rPr>
                <a:t>Log in as staff</a:t>
              </a: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F6BE6C8-5F60-FD02-9C42-5948E58CB962}"/>
                </a:ext>
              </a:extLst>
            </p:cNvPr>
            <p:cNvSpPr/>
            <p:nvPr/>
          </p:nvSpPr>
          <p:spPr>
            <a:xfrm>
              <a:off x="1079892" y="2893870"/>
              <a:ext cx="2280408" cy="395817"/>
            </a:xfrm>
            <a:custGeom>
              <a:avLst/>
              <a:gdLst>
                <a:gd name="connsiteX0" fmla="*/ 2280408 w 2280408"/>
                <a:gd name="connsiteY0" fmla="*/ 0 h 395817"/>
                <a:gd name="connsiteX1" fmla="*/ 2280408 w 2280408"/>
                <a:gd name="connsiteY1" fmla="*/ 215008 h 395817"/>
                <a:gd name="connsiteX2" fmla="*/ 0 w 2280408"/>
                <a:gd name="connsiteY2" fmla="*/ 215008 h 395817"/>
                <a:gd name="connsiteX3" fmla="*/ 0 w 2280408"/>
                <a:gd name="connsiteY3" fmla="*/ 395817 h 395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0408" h="395817">
                  <a:moveTo>
                    <a:pt x="2280408" y="0"/>
                  </a:moveTo>
                  <a:lnTo>
                    <a:pt x="2280408" y="215008"/>
                  </a:lnTo>
                  <a:lnTo>
                    <a:pt x="0" y="215008"/>
                  </a:lnTo>
                  <a:lnTo>
                    <a:pt x="0" y="395817"/>
                  </a:lnTo>
                </a:path>
              </a:pathLst>
            </a:custGeom>
            <a:noFill/>
            <a:ln>
              <a:solidFill>
                <a:srgbClr val="990000"/>
              </a:solidFill>
              <a:tailEnd type="arrow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94906" tIns="195777" rIns="1094906" bIns="195776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b="0" kern="1200">
                <a:solidFill>
                  <a:schemeClr val="tx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B6291D7-F3BC-8C8F-8EB2-0306DA74866E}"/>
                </a:ext>
              </a:extLst>
            </p:cNvPr>
            <p:cNvSpPr/>
            <p:nvPr/>
          </p:nvSpPr>
          <p:spPr>
            <a:xfrm>
              <a:off x="2433305" y="1783276"/>
              <a:ext cx="1853990" cy="1112394"/>
            </a:xfrm>
            <a:custGeom>
              <a:avLst/>
              <a:gdLst>
                <a:gd name="connsiteX0" fmla="*/ 0 w 1853990"/>
                <a:gd name="connsiteY0" fmla="*/ 0 h 1112394"/>
                <a:gd name="connsiteX1" fmla="*/ 1853990 w 1853990"/>
                <a:gd name="connsiteY1" fmla="*/ 0 h 1112394"/>
                <a:gd name="connsiteX2" fmla="*/ 1853990 w 1853990"/>
                <a:gd name="connsiteY2" fmla="*/ 1112394 h 1112394"/>
                <a:gd name="connsiteX3" fmla="*/ 0 w 1853990"/>
                <a:gd name="connsiteY3" fmla="*/ 1112394 h 1112394"/>
                <a:gd name="connsiteX4" fmla="*/ 0 w 1853990"/>
                <a:gd name="connsiteY4" fmla="*/ 0 h 111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990" h="1112394">
                  <a:moveTo>
                    <a:pt x="0" y="0"/>
                  </a:moveTo>
                  <a:lnTo>
                    <a:pt x="1853990" y="0"/>
                  </a:lnTo>
                  <a:lnTo>
                    <a:pt x="1853990" y="1112394"/>
                  </a:lnTo>
                  <a:lnTo>
                    <a:pt x="0" y="1112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1288723"/>
                <a:satOff val="-3699"/>
                <a:lumOff val="-592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847" tIns="95360" rIns="90847" bIns="95360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0" kern="1200" dirty="0">
                  <a:solidFill>
                    <a:schemeClr val="tx1"/>
                  </a:solidFill>
                </a:rPr>
                <a:t>Open “Manage Resources”</a:t>
              </a: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0A57EF-EDBC-1601-3414-BF52DB02FE25}"/>
                </a:ext>
              </a:extLst>
            </p:cNvPr>
            <p:cNvSpPr/>
            <p:nvPr/>
          </p:nvSpPr>
          <p:spPr>
            <a:xfrm>
              <a:off x="2005088" y="3832565"/>
              <a:ext cx="395817" cy="91440"/>
            </a:xfrm>
            <a:custGeom>
              <a:avLst/>
              <a:gdLst>
                <a:gd name="connsiteX0" fmla="*/ 0 w 395817"/>
                <a:gd name="connsiteY0" fmla="*/ 45720 h 91440"/>
                <a:gd name="connsiteX1" fmla="*/ 395817 w 395817"/>
                <a:gd name="connsiteY1" fmla="*/ 45720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5817" h="91440">
                  <a:moveTo>
                    <a:pt x="0" y="45720"/>
                  </a:moveTo>
                  <a:lnTo>
                    <a:pt x="395817" y="45720"/>
                  </a:lnTo>
                </a:path>
              </a:pathLst>
            </a:custGeom>
            <a:noFill/>
            <a:ln>
              <a:solidFill>
                <a:srgbClr val="990000"/>
              </a:solidFill>
              <a:tailEnd type="arrow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948" tIns="43588" rIns="199949" bIns="43588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b="0" kern="1200">
                <a:solidFill>
                  <a:schemeClr val="tx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057B101-0C68-0F98-6BE7-AF6F468761F1}"/>
                </a:ext>
              </a:extLst>
            </p:cNvPr>
            <p:cNvSpPr/>
            <p:nvPr/>
          </p:nvSpPr>
          <p:spPr>
            <a:xfrm>
              <a:off x="152897" y="3322088"/>
              <a:ext cx="1853990" cy="1112394"/>
            </a:xfrm>
            <a:custGeom>
              <a:avLst/>
              <a:gdLst>
                <a:gd name="connsiteX0" fmla="*/ 0 w 1853990"/>
                <a:gd name="connsiteY0" fmla="*/ 0 h 1112394"/>
                <a:gd name="connsiteX1" fmla="*/ 1853990 w 1853990"/>
                <a:gd name="connsiteY1" fmla="*/ 0 h 1112394"/>
                <a:gd name="connsiteX2" fmla="*/ 1853990 w 1853990"/>
                <a:gd name="connsiteY2" fmla="*/ 1112394 h 1112394"/>
                <a:gd name="connsiteX3" fmla="*/ 0 w 1853990"/>
                <a:gd name="connsiteY3" fmla="*/ 1112394 h 1112394"/>
                <a:gd name="connsiteX4" fmla="*/ 0 w 1853990"/>
                <a:gd name="connsiteY4" fmla="*/ 0 h 111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990" h="1112394">
                  <a:moveTo>
                    <a:pt x="0" y="0"/>
                  </a:moveTo>
                  <a:lnTo>
                    <a:pt x="1853990" y="0"/>
                  </a:lnTo>
                  <a:lnTo>
                    <a:pt x="1853990" y="1112394"/>
                  </a:lnTo>
                  <a:lnTo>
                    <a:pt x="0" y="1112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2577445"/>
                <a:satOff val="-7397"/>
                <a:lumOff val="-11844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847" tIns="95360" rIns="90847" bIns="95360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0" kern="1200" dirty="0">
                  <a:solidFill>
                    <a:schemeClr val="tx1"/>
                  </a:solidFill>
                </a:rPr>
                <a:t>Enter title, description, location, capacity</a:t>
              </a: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38DFEF5-B967-C173-3D2F-CFF216E1A54F}"/>
                </a:ext>
              </a:extLst>
            </p:cNvPr>
            <p:cNvSpPr/>
            <p:nvPr/>
          </p:nvSpPr>
          <p:spPr>
            <a:xfrm>
              <a:off x="1079892" y="4432682"/>
              <a:ext cx="2280408" cy="395817"/>
            </a:xfrm>
            <a:custGeom>
              <a:avLst/>
              <a:gdLst>
                <a:gd name="connsiteX0" fmla="*/ 2280408 w 2280408"/>
                <a:gd name="connsiteY0" fmla="*/ 0 h 395817"/>
                <a:gd name="connsiteX1" fmla="*/ 2280408 w 2280408"/>
                <a:gd name="connsiteY1" fmla="*/ 215008 h 395817"/>
                <a:gd name="connsiteX2" fmla="*/ 0 w 2280408"/>
                <a:gd name="connsiteY2" fmla="*/ 215008 h 395817"/>
                <a:gd name="connsiteX3" fmla="*/ 0 w 2280408"/>
                <a:gd name="connsiteY3" fmla="*/ 395817 h 395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0408" h="395817">
                  <a:moveTo>
                    <a:pt x="2280408" y="0"/>
                  </a:moveTo>
                  <a:lnTo>
                    <a:pt x="2280408" y="215008"/>
                  </a:lnTo>
                  <a:lnTo>
                    <a:pt x="0" y="215008"/>
                  </a:lnTo>
                  <a:lnTo>
                    <a:pt x="0" y="395817"/>
                  </a:lnTo>
                </a:path>
              </a:pathLst>
            </a:custGeom>
            <a:noFill/>
            <a:ln>
              <a:solidFill>
                <a:srgbClr val="990000"/>
              </a:solidFill>
              <a:tailEnd type="arrow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94906" tIns="195777" rIns="1094906" bIns="195776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b="0" kern="1200">
                <a:solidFill>
                  <a:schemeClr val="tx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64F1376-A68E-5D11-269F-80D3F87DA94D}"/>
                </a:ext>
              </a:extLst>
            </p:cNvPr>
            <p:cNvSpPr/>
            <p:nvPr/>
          </p:nvSpPr>
          <p:spPr>
            <a:xfrm>
              <a:off x="2433305" y="3322088"/>
              <a:ext cx="1853990" cy="1112394"/>
            </a:xfrm>
            <a:custGeom>
              <a:avLst/>
              <a:gdLst>
                <a:gd name="connsiteX0" fmla="*/ 0 w 1853990"/>
                <a:gd name="connsiteY0" fmla="*/ 0 h 1112394"/>
                <a:gd name="connsiteX1" fmla="*/ 1853990 w 1853990"/>
                <a:gd name="connsiteY1" fmla="*/ 0 h 1112394"/>
                <a:gd name="connsiteX2" fmla="*/ 1853990 w 1853990"/>
                <a:gd name="connsiteY2" fmla="*/ 1112394 h 1112394"/>
                <a:gd name="connsiteX3" fmla="*/ 0 w 1853990"/>
                <a:gd name="connsiteY3" fmla="*/ 1112394 h 1112394"/>
                <a:gd name="connsiteX4" fmla="*/ 0 w 1853990"/>
                <a:gd name="connsiteY4" fmla="*/ 0 h 111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990" h="1112394">
                  <a:moveTo>
                    <a:pt x="0" y="0"/>
                  </a:moveTo>
                  <a:lnTo>
                    <a:pt x="1853990" y="0"/>
                  </a:lnTo>
                  <a:lnTo>
                    <a:pt x="1853990" y="1112394"/>
                  </a:lnTo>
                  <a:lnTo>
                    <a:pt x="0" y="1112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3866169"/>
                <a:satOff val="-11096"/>
                <a:lumOff val="-1776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847" tIns="95360" rIns="90847" bIns="95360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0" kern="1200" dirty="0">
                  <a:solidFill>
                    <a:schemeClr val="tx1"/>
                  </a:solidFill>
                </a:rPr>
                <a:t>Add images &amp; set availability</a:t>
              </a: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15A6BCE-816D-6862-2BC2-0A31D39D74A6}"/>
                </a:ext>
              </a:extLst>
            </p:cNvPr>
            <p:cNvSpPr/>
            <p:nvPr/>
          </p:nvSpPr>
          <p:spPr>
            <a:xfrm>
              <a:off x="2005088" y="5371377"/>
              <a:ext cx="395817" cy="91440"/>
            </a:xfrm>
            <a:custGeom>
              <a:avLst/>
              <a:gdLst>
                <a:gd name="connsiteX0" fmla="*/ 0 w 395817"/>
                <a:gd name="connsiteY0" fmla="*/ 45720 h 91440"/>
                <a:gd name="connsiteX1" fmla="*/ 395817 w 395817"/>
                <a:gd name="connsiteY1" fmla="*/ 45720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5817" h="91440">
                  <a:moveTo>
                    <a:pt x="0" y="45720"/>
                  </a:moveTo>
                  <a:lnTo>
                    <a:pt x="395817" y="45720"/>
                  </a:lnTo>
                </a:path>
              </a:pathLst>
            </a:custGeom>
            <a:noFill/>
            <a:ln>
              <a:solidFill>
                <a:srgbClr val="990000"/>
              </a:solidFill>
              <a:tailEnd type="arrow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948" tIns="43588" rIns="199949" bIns="43588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500" kern="12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B276B40-C129-AE12-A007-D7ED334418FF}"/>
                </a:ext>
              </a:extLst>
            </p:cNvPr>
            <p:cNvSpPr/>
            <p:nvPr/>
          </p:nvSpPr>
          <p:spPr>
            <a:xfrm>
              <a:off x="152897" y="4860900"/>
              <a:ext cx="1853990" cy="1112394"/>
            </a:xfrm>
            <a:custGeom>
              <a:avLst/>
              <a:gdLst>
                <a:gd name="connsiteX0" fmla="*/ 0 w 1853990"/>
                <a:gd name="connsiteY0" fmla="*/ 0 h 1112394"/>
                <a:gd name="connsiteX1" fmla="*/ 1853990 w 1853990"/>
                <a:gd name="connsiteY1" fmla="*/ 0 h 1112394"/>
                <a:gd name="connsiteX2" fmla="*/ 1853990 w 1853990"/>
                <a:gd name="connsiteY2" fmla="*/ 1112394 h 1112394"/>
                <a:gd name="connsiteX3" fmla="*/ 0 w 1853990"/>
                <a:gd name="connsiteY3" fmla="*/ 1112394 h 1112394"/>
                <a:gd name="connsiteX4" fmla="*/ 0 w 1853990"/>
                <a:gd name="connsiteY4" fmla="*/ 0 h 111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990" h="1112394">
                  <a:moveTo>
                    <a:pt x="0" y="0"/>
                  </a:moveTo>
                  <a:lnTo>
                    <a:pt x="1853990" y="0"/>
                  </a:lnTo>
                  <a:lnTo>
                    <a:pt x="1853990" y="1112394"/>
                  </a:lnTo>
                  <a:lnTo>
                    <a:pt x="0" y="1112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5154891"/>
                <a:satOff val="-14794"/>
                <a:lumOff val="-23687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847" tIns="95360" rIns="90847" bIns="9536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0" kern="1200" dirty="0">
                  <a:solidFill>
                    <a:schemeClr val="tx1"/>
                  </a:solidFill>
                </a:rPr>
                <a:t>(Optional) Require admin approval</a:t>
              </a: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3CFF806-7A4D-FE5D-2DDC-A8B6DBD760E8}"/>
                </a:ext>
              </a:extLst>
            </p:cNvPr>
            <p:cNvSpPr/>
            <p:nvPr/>
          </p:nvSpPr>
          <p:spPr>
            <a:xfrm>
              <a:off x="2433305" y="4860900"/>
              <a:ext cx="1853990" cy="1112394"/>
            </a:xfrm>
            <a:custGeom>
              <a:avLst/>
              <a:gdLst>
                <a:gd name="connsiteX0" fmla="*/ 0 w 1853990"/>
                <a:gd name="connsiteY0" fmla="*/ 0 h 1112394"/>
                <a:gd name="connsiteX1" fmla="*/ 1853990 w 1853990"/>
                <a:gd name="connsiteY1" fmla="*/ 0 h 1112394"/>
                <a:gd name="connsiteX2" fmla="*/ 1853990 w 1853990"/>
                <a:gd name="connsiteY2" fmla="*/ 1112394 h 1112394"/>
                <a:gd name="connsiteX3" fmla="*/ 0 w 1853990"/>
                <a:gd name="connsiteY3" fmla="*/ 1112394 h 1112394"/>
                <a:gd name="connsiteX4" fmla="*/ 0 w 1853990"/>
                <a:gd name="connsiteY4" fmla="*/ 0 h 111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990" h="1112394">
                  <a:moveTo>
                    <a:pt x="0" y="0"/>
                  </a:moveTo>
                  <a:lnTo>
                    <a:pt x="1853990" y="0"/>
                  </a:lnTo>
                  <a:lnTo>
                    <a:pt x="1853990" y="1112394"/>
                  </a:lnTo>
                  <a:lnTo>
                    <a:pt x="0" y="1112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6443614"/>
                <a:satOff val="-18493"/>
                <a:lumOff val="-29609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847" tIns="95360" rIns="90847" bIns="95360" numCol="1" spcCol="1270" anchor="ctr" anchorCtr="0">
              <a:noAutofit/>
            </a:bodyPr>
            <a:lstStyle/>
            <a:p>
              <a:pPr lvl="0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>
                  <a:solidFill>
                    <a:schemeClr val="tx1"/>
                  </a:solidFill>
                </a:rPr>
                <a:t>Publish → Resource appears to students</a:t>
              </a:r>
              <a:endParaRPr lang="en-US" sz="1600" b="0" kern="1200" dirty="0">
                <a:solidFill>
                  <a:schemeClr val="tx1"/>
                </a:solidFill>
              </a:endParaRPr>
            </a:p>
          </p:txBody>
        </p:sp>
      </p:grp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CC52CD-FCD5-C0F7-F72E-55ED2BC3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5" b="1"/>
          <a:stretch>
            <a:fillRect/>
          </a:stretch>
        </p:blipFill>
        <p:spPr>
          <a:xfrm>
            <a:off x="5987540" y="1379517"/>
            <a:ext cx="5858974" cy="5116297"/>
          </a:xfrm>
          <a:prstGeom prst="rect">
            <a:avLst/>
          </a:prstGeom>
          <a:ln>
            <a:solidFill>
              <a:srgbClr val="990000"/>
            </a:solidFill>
          </a:ln>
        </p:spPr>
      </p:pic>
    </p:spTree>
    <p:extLst>
      <p:ext uri="{BB962C8B-B14F-4D97-AF65-F5344CB8AC3E}">
        <p14:creationId xmlns:p14="http://schemas.microsoft.com/office/powerpoint/2010/main" val="25977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63DFC-CFC3-F72D-9994-BF6DC5B58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87DFA2-4A0E-2AA4-9054-4FEC60761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5815"/>
            <a:ext cx="2743200" cy="365125"/>
          </a:xfrm>
        </p:spPr>
        <p:txBody>
          <a:bodyPr/>
          <a:lstStyle/>
          <a:p>
            <a:fld id="{D0B5FFA0-136F-462E-B8C6-AE8ED6E6891F}" type="slidenum">
              <a:rPr lang="en-US" smtClean="0"/>
              <a:t>5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B14F02-5C86-2252-34A8-0BA70AB254AF}"/>
              </a:ext>
            </a:extLst>
          </p:cNvPr>
          <p:cNvSpPr/>
          <p:nvPr/>
        </p:nvSpPr>
        <p:spPr>
          <a:xfrm>
            <a:off x="0" y="1"/>
            <a:ext cx="12192000" cy="1078992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Admins can review booking requests, update statuses, and trigger real-time notifications to students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9905005-5292-6AD0-DC8D-F86BB7AE0230}"/>
              </a:ext>
            </a:extLst>
          </p:cNvPr>
          <p:cNvGrpSpPr/>
          <p:nvPr/>
        </p:nvGrpSpPr>
        <p:grpSpPr>
          <a:xfrm>
            <a:off x="586161" y="1384797"/>
            <a:ext cx="4136136" cy="5235059"/>
            <a:chOff x="152029" y="1260756"/>
            <a:chExt cx="4136136" cy="523505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5072416-986E-45F8-6F8F-17CC02ED9091}"/>
                </a:ext>
              </a:extLst>
            </p:cNvPr>
            <p:cNvSpPr/>
            <p:nvPr/>
          </p:nvSpPr>
          <p:spPr>
            <a:xfrm>
              <a:off x="152029" y="1260756"/>
              <a:ext cx="4136136" cy="5235059"/>
            </a:xfrm>
            <a:prstGeom prst="rect">
              <a:avLst/>
            </a:prstGeom>
            <a:noFill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E1CB21F-501A-63F9-3CD4-B591B8CC3CC4}"/>
                </a:ext>
              </a:extLst>
            </p:cNvPr>
            <p:cNvSpPr/>
            <p:nvPr/>
          </p:nvSpPr>
          <p:spPr>
            <a:xfrm>
              <a:off x="2005088" y="2293753"/>
              <a:ext cx="395817" cy="91440"/>
            </a:xfrm>
            <a:custGeom>
              <a:avLst/>
              <a:gdLst>
                <a:gd name="connsiteX0" fmla="*/ 0 w 395817"/>
                <a:gd name="connsiteY0" fmla="*/ 45720 h 91440"/>
                <a:gd name="connsiteX1" fmla="*/ 395817 w 395817"/>
                <a:gd name="connsiteY1" fmla="*/ 45720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5817" h="91440">
                  <a:moveTo>
                    <a:pt x="0" y="45720"/>
                  </a:moveTo>
                  <a:lnTo>
                    <a:pt x="395817" y="45720"/>
                  </a:lnTo>
                </a:path>
              </a:pathLst>
            </a:custGeom>
            <a:noFill/>
            <a:ln>
              <a:solidFill>
                <a:srgbClr val="990000"/>
              </a:solidFill>
              <a:tailEnd type="arrow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948" tIns="43588" rIns="199949" bIns="43588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b="0" kern="1200">
                <a:solidFill>
                  <a:schemeClr val="tx1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D692BBC-A4E3-7F3D-B8E3-0ABA617AFE0F}"/>
                </a:ext>
              </a:extLst>
            </p:cNvPr>
            <p:cNvSpPr/>
            <p:nvPr/>
          </p:nvSpPr>
          <p:spPr>
            <a:xfrm>
              <a:off x="152897" y="1783276"/>
              <a:ext cx="1853990" cy="1112394"/>
            </a:xfrm>
            <a:custGeom>
              <a:avLst/>
              <a:gdLst>
                <a:gd name="connsiteX0" fmla="*/ 0 w 1853990"/>
                <a:gd name="connsiteY0" fmla="*/ 0 h 1112394"/>
                <a:gd name="connsiteX1" fmla="*/ 1853990 w 1853990"/>
                <a:gd name="connsiteY1" fmla="*/ 0 h 1112394"/>
                <a:gd name="connsiteX2" fmla="*/ 1853990 w 1853990"/>
                <a:gd name="connsiteY2" fmla="*/ 1112394 h 1112394"/>
                <a:gd name="connsiteX3" fmla="*/ 0 w 1853990"/>
                <a:gd name="connsiteY3" fmla="*/ 1112394 h 1112394"/>
                <a:gd name="connsiteX4" fmla="*/ 0 w 1853990"/>
                <a:gd name="connsiteY4" fmla="*/ 0 h 111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990" h="1112394">
                  <a:moveTo>
                    <a:pt x="0" y="0"/>
                  </a:moveTo>
                  <a:lnTo>
                    <a:pt x="1853990" y="0"/>
                  </a:lnTo>
                  <a:lnTo>
                    <a:pt x="1853990" y="1112394"/>
                  </a:lnTo>
                  <a:lnTo>
                    <a:pt x="0" y="1112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847" tIns="95360" rIns="90847" bIns="95360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0" kern="1200" dirty="0">
                  <a:solidFill>
                    <a:schemeClr val="tx1"/>
                  </a:solidFill>
                </a:rPr>
                <a:t>Log in as admin</a:t>
              </a: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D373A99-D3E4-01EB-F88C-C2F289459DA5}"/>
                </a:ext>
              </a:extLst>
            </p:cNvPr>
            <p:cNvSpPr/>
            <p:nvPr/>
          </p:nvSpPr>
          <p:spPr>
            <a:xfrm>
              <a:off x="1079892" y="2893870"/>
              <a:ext cx="2280408" cy="395817"/>
            </a:xfrm>
            <a:custGeom>
              <a:avLst/>
              <a:gdLst>
                <a:gd name="connsiteX0" fmla="*/ 2280408 w 2280408"/>
                <a:gd name="connsiteY0" fmla="*/ 0 h 395817"/>
                <a:gd name="connsiteX1" fmla="*/ 2280408 w 2280408"/>
                <a:gd name="connsiteY1" fmla="*/ 215008 h 395817"/>
                <a:gd name="connsiteX2" fmla="*/ 0 w 2280408"/>
                <a:gd name="connsiteY2" fmla="*/ 215008 h 395817"/>
                <a:gd name="connsiteX3" fmla="*/ 0 w 2280408"/>
                <a:gd name="connsiteY3" fmla="*/ 395817 h 395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0408" h="395817">
                  <a:moveTo>
                    <a:pt x="2280408" y="0"/>
                  </a:moveTo>
                  <a:lnTo>
                    <a:pt x="2280408" y="215008"/>
                  </a:lnTo>
                  <a:lnTo>
                    <a:pt x="0" y="215008"/>
                  </a:lnTo>
                  <a:lnTo>
                    <a:pt x="0" y="395817"/>
                  </a:lnTo>
                </a:path>
              </a:pathLst>
            </a:custGeom>
            <a:noFill/>
            <a:ln>
              <a:solidFill>
                <a:srgbClr val="990000"/>
              </a:solidFill>
              <a:tailEnd type="arrow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94906" tIns="195777" rIns="1094906" bIns="195776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b="0" kern="1200">
                <a:solidFill>
                  <a:schemeClr val="tx1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642F4E3-1E98-1787-57EE-2D1EC5EE1E29}"/>
                </a:ext>
              </a:extLst>
            </p:cNvPr>
            <p:cNvSpPr/>
            <p:nvPr/>
          </p:nvSpPr>
          <p:spPr>
            <a:xfrm>
              <a:off x="2433305" y="1783276"/>
              <a:ext cx="1853990" cy="1112394"/>
            </a:xfrm>
            <a:custGeom>
              <a:avLst/>
              <a:gdLst>
                <a:gd name="connsiteX0" fmla="*/ 0 w 1853990"/>
                <a:gd name="connsiteY0" fmla="*/ 0 h 1112394"/>
                <a:gd name="connsiteX1" fmla="*/ 1853990 w 1853990"/>
                <a:gd name="connsiteY1" fmla="*/ 0 h 1112394"/>
                <a:gd name="connsiteX2" fmla="*/ 1853990 w 1853990"/>
                <a:gd name="connsiteY2" fmla="*/ 1112394 h 1112394"/>
                <a:gd name="connsiteX3" fmla="*/ 0 w 1853990"/>
                <a:gd name="connsiteY3" fmla="*/ 1112394 h 1112394"/>
                <a:gd name="connsiteX4" fmla="*/ 0 w 1853990"/>
                <a:gd name="connsiteY4" fmla="*/ 0 h 111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990" h="1112394">
                  <a:moveTo>
                    <a:pt x="0" y="0"/>
                  </a:moveTo>
                  <a:lnTo>
                    <a:pt x="1853990" y="0"/>
                  </a:lnTo>
                  <a:lnTo>
                    <a:pt x="1853990" y="1112394"/>
                  </a:lnTo>
                  <a:lnTo>
                    <a:pt x="0" y="1112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1288723"/>
                <a:satOff val="-3699"/>
                <a:lumOff val="-592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847" tIns="95360" rIns="90847" bIns="95360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0" kern="1200" dirty="0">
                  <a:solidFill>
                    <a:schemeClr val="tx1"/>
                  </a:solidFill>
                </a:rPr>
                <a:t>Open “Manage Bookings”</a:t>
              </a: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D14A2A6-74F9-97C3-7DCE-390AE1B4D3BA}"/>
                </a:ext>
              </a:extLst>
            </p:cNvPr>
            <p:cNvSpPr/>
            <p:nvPr/>
          </p:nvSpPr>
          <p:spPr>
            <a:xfrm>
              <a:off x="2005088" y="3832565"/>
              <a:ext cx="395817" cy="91440"/>
            </a:xfrm>
            <a:custGeom>
              <a:avLst/>
              <a:gdLst>
                <a:gd name="connsiteX0" fmla="*/ 0 w 395817"/>
                <a:gd name="connsiteY0" fmla="*/ 45720 h 91440"/>
                <a:gd name="connsiteX1" fmla="*/ 395817 w 395817"/>
                <a:gd name="connsiteY1" fmla="*/ 45720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5817" h="91440">
                  <a:moveTo>
                    <a:pt x="0" y="45720"/>
                  </a:moveTo>
                  <a:lnTo>
                    <a:pt x="395817" y="45720"/>
                  </a:lnTo>
                </a:path>
              </a:pathLst>
            </a:custGeom>
            <a:noFill/>
            <a:ln>
              <a:solidFill>
                <a:srgbClr val="990000"/>
              </a:solidFill>
              <a:tailEnd type="arrow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948" tIns="43588" rIns="199949" bIns="43588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b="0" kern="1200">
                <a:solidFill>
                  <a:schemeClr val="tx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A8B5AA0-708D-96C6-10C7-44A36D14D5DF}"/>
                </a:ext>
              </a:extLst>
            </p:cNvPr>
            <p:cNvSpPr/>
            <p:nvPr/>
          </p:nvSpPr>
          <p:spPr>
            <a:xfrm>
              <a:off x="152897" y="3322088"/>
              <a:ext cx="1853990" cy="1112394"/>
            </a:xfrm>
            <a:custGeom>
              <a:avLst/>
              <a:gdLst>
                <a:gd name="connsiteX0" fmla="*/ 0 w 1853990"/>
                <a:gd name="connsiteY0" fmla="*/ 0 h 1112394"/>
                <a:gd name="connsiteX1" fmla="*/ 1853990 w 1853990"/>
                <a:gd name="connsiteY1" fmla="*/ 0 h 1112394"/>
                <a:gd name="connsiteX2" fmla="*/ 1853990 w 1853990"/>
                <a:gd name="connsiteY2" fmla="*/ 1112394 h 1112394"/>
                <a:gd name="connsiteX3" fmla="*/ 0 w 1853990"/>
                <a:gd name="connsiteY3" fmla="*/ 1112394 h 1112394"/>
                <a:gd name="connsiteX4" fmla="*/ 0 w 1853990"/>
                <a:gd name="connsiteY4" fmla="*/ 0 h 111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990" h="1112394">
                  <a:moveTo>
                    <a:pt x="0" y="0"/>
                  </a:moveTo>
                  <a:lnTo>
                    <a:pt x="1853990" y="0"/>
                  </a:lnTo>
                  <a:lnTo>
                    <a:pt x="1853990" y="1112394"/>
                  </a:lnTo>
                  <a:lnTo>
                    <a:pt x="0" y="1112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2577445"/>
                <a:satOff val="-7397"/>
                <a:lumOff val="-11844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847" tIns="95360" rIns="90847" bIns="95360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0" kern="1200" dirty="0">
                  <a:solidFill>
                    <a:schemeClr val="tx1"/>
                  </a:solidFill>
                </a:rPr>
                <a:t>Review pending requests</a:t>
              </a: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A80A282-7C4E-808E-6A61-B9B7C28A3A71}"/>
                </a:ext>
              </a:extLst>
            </p:cNvPr>
            <p:cNvSpPr/>
            <p:nvPr/>
          </p:nvSpPr>
          <p:spPr>
            <a:xfrm>
              <a:off x="1079892" y="4432682"/>
              <a:ext cx="2280408" cy="395817"/>
            </a:xfrm>
            <a:custGeom>
              <a:avLst/>
              <a:gdLst>
                <a:gd name="connsiteX0" fmla="*/ 2280408 w 2280408"/>
                <a:gd name="connsiteY0" fmla="*/ 0 h 395817"/>
                <a:gd name="connsiteX1" fmla="*/ 2280408 w 2280408"/>
                <a:gd name="connsiteY1" fmla="*/ 215008 h 395817"/>
                <a:gd name="connsiteX2" fmla="*/ 0 w 2280408"/>
                <a:gd name="connsiteY2" fmla="*/ 215008 h 395817"/>
                <a:gd name="connsiteX3" fmla="*/ 0 w 2280408"/>
                <a:gd name="connsiteY3" fmla="*/ 395817 h 395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80408" h="395817">
                  <a:moveTo>
                    <a:pt x="2280408" y="0"/>
                  </a:moveTo>
                  <a:lnTo>
                    <a:pt x="2280408" y="215008"/>
                  </a:lnTo>
                  <a:lnTo>
                    <a:pt x="0" y="215008"/>
                  </a:lnTo>
                  <a:lnTo>
                    <a:pt x="0" y="395817"/>
                  </a:lnTo>
                </a:path>
              </a:pathLst>
            </a:custGeom>
            <a:noFill/>
            <a:ln>
              <a:solidFill>
                <a:srgbClr val="990000"/>
              </a:solidFill>
              <a:tailEnd type="arrow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94906" tIns="195777" rIns="1094906" bIns="195776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b="0" kern="1200">
                <a:solidFill>
                  <a:schemeClr val="tx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92A0D16-7299-F56A-C006-B2BD7F5FA75C}"/>
                </a:ext>
              </a:extLst>
            </p:cNvPr>
            <p:cNvSpPr/>
            <p:nvPr/>
          </p:nvSpPr>
          <p:spPr>
            <a:xfrm>
              <a:off x="2433305" y="3322088"/>
              <a:ext cx="1853990" cy="1112394"/>
            </a:xfrm>
            <a:custGeom>
              <a:avLst/>
              <a:gdLst>
                <a:gd name="connsiteX0" fmla="*/ 0 w 1853990"/>
                <a:gd name="connsiteY0" fmla="*/ 0 h 1112394"/>
                <a:gd name="connsiteX1" fmla="*/ 1853990 w 1853990"/>
                <a:gd name="connsiteY1" fmla="*/ 0 h 1112394"/>
                <a:gd name="connsiteX2" fmla="*/ 1853990 w 1853990"/>
                <a:gd name="connsiteY2" fmla="*/ 1112394 h 1112394"/>
                <a:gd name="connsiteX3" fmla="*/ 0 w 1853990"/>
                <a:gd name="connsiteY3" fmla="*/ 1112394 h 1112394"/>
                <a:gd name="connsiteX4" fmla="*/ 0 w 1853990"/>
                <a:gd name="connsiteY4" fmla="*/ 0 h 111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990" h="1112394">
                  <a:moveTo>
                    <a:pt x="0" y="0"/>
                  </a:moveTo>
                  <a:lnTo>
                    <a:pt x="1853990" y="0"/>
                  </a:lnTo>
                  <a:lnTo>
                    <a:pt x="1853990" y="1112394"/>
                  </a:lnTo>
                  <a:lnTo>
                    <a:pt x="0" y="1112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3866169"/>
                <a:satOff val="-11096"/>
                <a:lumOff val="-1776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847" tIns="95360" rIns="90847" bIns="95360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0" kern="1200" dirty="0">
                  <a:solidFill>
                    <a:schemeClr val="tx1"/>
                  </a:solidFill>
                </a:rPr>
                <a:t>Approve/ reject/ update booking</a:t>
              </a: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8751439-6DFF-D947-AC92-6D40AD037D70}"/>
                </a:ext>
              </a:extLst>
            </p:cNvPr>
            <p:cNvSpPr/>
            <p:nvPr/>
          </p:nvSpPr>
          <p:spPr>
            <a:xfrm>
              <a:off x="2005088" y="5371377"/>
              <a:ext cx="395817" cy="91440"/>
            </a:xfrm>
            <a:custGeom>
              <a:avLst/>
              <a:gdLst>
                <a:gd name="connsiteX0" fmla="*/ 0 w 395817"/>
                <a:gd name="connsiteY0" fmla="*/ 45720 h 91440"/>
                <a:gd name="connsiteX1" fmla="*/ 395817 w 395817"/>
                <a:gd name="connsiteY1" fmla="*/ 45720 h 91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95817" h="91440">
                  <a:moveTo>
                    <a:pt x="0" y="45720"/>
                  </a:moveTo>
                  <a:lnTo>
                    <a:pt x="395817" y="45720"/>
                  </a:lnTo>
                </a:path>
              </a:pathLst>
            </a:custGeom>
            <a:noFill/>
            <a:ln>
              <a:solidFill>
                <a:srgbClr val="990000"/>
              </a:solidFill>
              <a:tailEnd type="arrow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9948" tIns="43588" rIns="199949" bIns="43588" numCol="1" spcCol="1270" anchor="ctr" anchorCtr="0">
              <a:noAutofit/>
            </a:bodyPr>
            <a:lstStyle/>
            <a:p>
              <a:pPr marL="0" lvl="0" indent="0" algn="ctr" defTabSz="222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500" kern="120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E7721BB-5B6F-6CCE-E5CE-00C20294268E}"/>
                </a:ext>
              </a:extLst>
            </p:cNvPr>
            <p:cNvSpPr/>
            <p:nvPr/>
          </p:nvSpPr>
          <p:spPr>
            <a:xfrm>
              <a:off x="152897" y="4860900"/>
              <a:ext cx="1853990" cy="1112394"/>
            </a:xfrm>
            <a:custGeom>
              <a:avLst/>
              <a:gdLst>
                <a:gd name="connsiteX0" fmla="*/ 0 w 1853990"/>
                <a:gd name="connsiteY0" fmla="*/ 0 h 1112394"/>
                <a:gd name="connsiteX1" fmla="*/ 1853990 w 1853990"/>
                <a:gd name="connsiteY1" fmla="*/ 0 h 1112394"/>
                <a:gd name="connsiteX2" fmla="*/ 1853990 w 1853990"/>
                <a:gd name="connsiteY2" fmla="*/ 1112394 h 1112394"/>
                <a:gd name="connsiteX3" fmla="*/ 0 w 1853990"/>
                <a:gd name="connsiteY3" fmla="*/ 1112394 h 1112394"/>
                <a:gd name="connsiteX4" fmla="*/ 0 w 1853990"/>
                <a:gd name="connsiteY4" fmla="*/ 0 h 111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990" h="1112394">
                  <a:moveTo>
                    <a:pt x="0" y="0"/>
                  </a:moveTo>
                  <a:lnTo>
                    <a:pt x="1853990" y="0"/>
                  </a:lnTo>
                  <a:lnTo>
                    <a:pt x="1853990" y="1112394"/>
                  </a:lnTo>
                  <a:lnTo>
                    <a:pt x="0" y="1112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5154891"/>
                <a:satOff val="-14794"/>
                <a:lumOff val="-23687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847" tIns="95360" rIns="90847" bIns="95360" numCol="1" spcCol="1270" anchor="ctr" anchorCtr="0">
              <a:noAutofit/>
            </a:bodyPr>
            <a:lstStyle/>
            <a:p>
              <a:pPr marL="0" lvl="0" indent="0"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0" kern="1200" dirty="0">
                  <a:solidFill>
                    <a:schemeClr val="tx1"/>
                  </a:solidFill>
                </a:rPr>
                <a:t>Booking Status updated in system</a:t>
              </a: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1F661B4-A726-013B-3584-AB5F7608BFC2}"/>
                </a:ext>
              </a:extLst>
            </p:cNvPr>
            <p:cNvSpPr/>
            <p:nvPr/>
          </p:nvSpPr>
          <p:spPr>
            <a:xfrm>
              <a:off x="2433305" y="4860900"/>
              <a:ext cx="1853990" cy="1112394"/>
            </a:xfrm>
            <a:custGeom>
              <a:avLst/>
              <a:gdLst>
                <a:gd name="connsiteX0" fmla="*/ 0 w 1853990"/>
                <a:gd name="connsiteY0" fmla="*/ 0 h 1112394"/>
                <a:gd name="connsiteX1" fmla="*/ 1853990 w 1853990"/>
                <a:gd name="connsiteY1" fmla="*/ 0 h 1112394"/>
                <a:gd name="connsiteX2" fmla="*/ 1853990 w 1853990"/>
                <a:gd name="connsiteY2" fmla="*/ 1112394 h 1112394"/>
                <a:gd name="connsiteX3" fmla="*/ 0 w 1853990"/>
                <a:gd name="connsiteY3" fmla="*/ 1112394 h 1112394"/>
                <a:gd name="connsiteX4" fmla="*/ 0 w 1853990"/>
                <a:gd name="connsiteY4" fmla="*/ 0 h 111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3990" h="1112394">
                  <a:moveTo>
                    <a:pt x="0" y="0"/>
                  </a:moveTo>
                  <a:lnTo>
                    <a:pt x="1853990" y="0"/>
                  </a:lnTo>
                  <a:lnTo>
                    <a:pt x="1853990" y="1112394"/>
                  </a:lnTo>
                  <a:lnTo>
                    <a:pt x="0" y="1112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6443614"/>
                <a:satOff val="-18493"/>
                <a:lumOff val="-29609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90847" tIns="95360" rIns="90847" bIns="95360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0" kern="1200" dirty="0">
                  <a:solidFill>
                    <a:schemeClr val="tx1"/>
                  </a:solidFill>
                </a:rPr>
                <a:t>Student receives real-time notification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E31DB27-63DB-F2F9-D755-E12C44F7A290}"/>
              </a:ext>
            </a:extLst>
          </p:cNvPr>
          <p:cNvGrpSpPr/>
          <p:nvPr/>
        </p:nvGrpSpPr>
        <p:grpSpPr>
          <a:xfrm>
            <a:off x="5303520" y="1624473"/>
            <a:ext cx="6357945" cy="4747066"/>
            <a:chOff x="6882698" y="1542484"/>
            <a:chExt cx="5157273" cy="4061095"/>
          </a:xfrm>
        </p:grpSpPr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9B68D642-446F-7886-CFFC-0E8056BCF2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2698" y="1542484"/>
              <a:ext cx="5157273" cy="3196634"/>
            </a:xfrm>
            <a:prstGeom prst="rect">
              <a:avLst/>
            </a:prstGeom>
            <a:ln>
              <a:solidFill>
                <a:srgbClr val="990000"/>
              </a:solidFill>
            </a:ln>
          </p:spPr>
        </p:pic>
        <p:pic>
          <p:nvPicPr>
            <p:cNvPr id="7" name="Picture 6" descr="A screenshot of a phone&#10;&#10;AI-generated content may be incorrect.">
              <a:extLst>
                <a:ext uri="{FF2B5EF4-FFF2-40B4-BE49-F238E27FC236}">
                  <a16:creationId xmlns:a16="http://schemas.microsoft.com/office/drawing/2014/main" id="{957E3A9A-03CB-DC51-227B-84D4191A0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2698" y="4860900"/>
              <a:ext cx="5157273" cy="742679"/>
            </a:xfrm>
            <a:prstGeom prst="rect">
              <a:avLst/>
            </a:prstGeom>
            <a:ln>
              <a:solidFill>
                <a:srgbClr val="990000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695783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E2B44-6C9C-7E30-5F49-6C1168E77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B8B518-5CC6-6FF9-0CF1-D1A48E0B3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5815"/>
            <a:ext cx="2743200" cy="365125"/>
          </a:xfrm>
        </p:spPr>
        <p:txBody>
          <a:bodyPr/>
          <a:lstStyle/>
          <a:p>
            <a:fld id="{D0B5FFA0-136F-462E-B8C6-AE8ED6E6891F}" type="slidenum">
              <a:rPr lang="en-US" smtClean="0"/>
              <a:t>6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AEA1A0-DCBF-CB04-0EAA-48E4DF8F7AD5}"/>
              </a:ext>
            </a:extLst>
          </p:cNvPr>
          <p:cNvSpPr/>
          <p:nvPr/>
        </p:nvSpPr>
        <p:spPr>
          <a:xfrm>
            <a:off x="0" y="1"/>
            <a:ext cx="12192000" cy="1078992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 dirty="0"/>
              <a:t>Students and staff can communicate on bookings and export confirmed reservations directly to their personal calendars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61EF37D-3F22-D847-EA60-DD5B65A11FEB}"/>
              </a:ext>
            </a:extLst>
          </p:cNvPr>
          <p:cNvGrpSpPr/>
          <p:nvPr/>
        </p:nvGrpSpPr>
        <p:grpSpPr>
          <a:xfrm>
            <a:off x="4965213" y="1413153"/>
            <a:ext cx="3871331" cy="5235059"/>
            <a:chOff x="152029" y="1260756"/>
            <a:chExt cx="2472837" cy="523505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01FF088-B0F3-3000-5027-6EE5D8E79879}"/>
                </a:ext>
              </a:extLst>
            </p:cNvPr>
            <p:cNvSpPr/>
            <p:nvPr/>
          </p:nvSpPr>
          <p:spPr>
            <a:xfrm>
              <a:off x="152029" y="1260756"/>
              <a:ext cx="2472837" cy="5235059"/>
            </a:xfrm>
            <a:prstGeom prst="rect">
              <a:avLst/>
            </a:prstGeom>
            <a:no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EE814BD-0EEE-82EF-34E9-754C83C8990B}"/>
                </a:ext>
              </a:extLst>
            </p:cNvPr>
            <p:cNvSpPr/>
            <p:nvPr/>
          </p:nvSpPr>
          <p:spPr>
            <a:xfrm>
              <a:off x="1342727" y="2060302"/>
              <a:ext cx="91440" cy="276548"/>
            </a:xfrm>
            <a:custGeom>
              <a:avLst/>
              <a:gdLst>
                <a:gd name="connsiteX0" fmla="*/ 45720 w 91440"/>
                <a:gd name="connsiteY0" fmla="*/ 0 h 276548"/>
                <a:gd name="connsiteX1" fmla="*/ 45720 w 91440"/>
                <a:gd name="connsiteY1" fmla="*/ 276548 h 27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440" h="276548">
                  <a:moveTo>
                    <a:pt x="45720" y="0"/>
                  </a:moveTo>
                  <a:lnTo>
                    <a:pt x="45720" y="276548"/>
                  </a:lnTo>
                </a:path>
              </a:pathLst>
            </a:custGeom>
            <a:noFill/>
            <a:ln>
              <a:solidFill>
                <a:srgbClr val="990000"/>
              </a:solidFill>
              <a:tailEnd type="arrow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0741" tIns="136739" rIns="50742" bIns="136738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b="0" kern="1200">
                <a:solidFill>
                  <a:schemeClr val="tx1"/>
                </a:solidFill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B58D6A6-ECE0-FB2E-7E83-EE0083AA5D18}"/>
                </a:ext>
              </a:extLst>
            </p:cNvPr>
            <p:cNvSpPr/>
            <p:nvPr/>
          </p:nvSpPr>
          <p:spPr>
            <a:xfrm>
              <a:off x="720733" y="1260845"/>
              <a:ext cx="1335428" cy="801257"/>
            </a:xfrm>
            <a:custGeom>
              <a:avLst/>
              <a:gdLst>
                <a:gd name="connsiteX0" fmla="*/ 0 w 1335428"/>
                <a:gd name="connsiteY0" fmla="*/ 0 h 801257"/>
                <a:gd name="connsiteX1" fmla="*/ 1335428 w 1335428"/>
                <a:gd name="connsiteY1" fmla="*/ 0 h 801257"/>
                <a:gd name="connsiteX2" fmla="*/ 1335428 w 1335428"/>
                <a:gd name="connsiteY2" fmla="*/ 801257 h 801257"/>
                <a:gd name="connsiteX3" fmla="*/ 0 w 1335428"/>
                <a:gd name="connsiteY3" fmla="*/ 801257 h 801257"/>
                <a:gd name="connsiteX4" fmla="*/ 0 w 1335428"/>
                <a:gd name="connsiteY4" fmla="*/ 0 h 801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428" h="801257">
                  <a:moveTo>
                    <a:pt x="0" y="0"/>
                  </a:moveTo>
                  <a:lnTo>
                    <a:pt x="1335428" y="0"/>
                  </a:lnTo>
                  <a:lnTo>
                    <a:pt x="1335428" y="801257"/>
                  </a:lnTo>
                  <a:lnTo>
                    <a:pt x="0" y="8012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5437" tIns="68688" rIns="65437" bIns="68688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0" kern="1200" dirty="0">
                  <a:solidFill>
                    <a:schemeClr val="tx1"/>
                  </a:solidFill>
                </a:rPr>
                <a:t>Open a confirmed booking</a:t>
              </a: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CD2F239-2C31-EA89-CBF7-C5A57BCD767F}"/>
                </a:ext>
              </a:extLst>
            </p:cNvPr>
            <p:cNvSpPr/>
            <p:nvPr/>
          </p:nvSpPr>
          <p:spPr>
            <a:xfrm>
              <a:off x="1342727" y="3168708"/>
              <a:ext cx="91440" cy="276548"/>
            </a:xfrm>
            <a:custGeom>
              <a:avLst/>
              <a:gdLst>
                <a:gd name="connsiteX0" fmla="*/ 45720 w 91440"/>
                <a:gd name="connsiteY0" fmla="*/ 0 h 276548"/>
                <a:gd name="connsiteX1" fmla="*/ 45720 w 91440"/>
                <a:gd name="connsiteY1" fmla="*/ 276548 h 27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440" h="276548">
                  <a:moveTo>
                    <a:pt x="45720" y="0"/>
                  </a:moveTo>
                  <a:lnTo>
                    <a:pt x="45720" y="276548"/>
                  </a:lnTo>
                </a:path>
              </a:pathLst>
            </a:custGeom>
            <a:noFill/>
            <a:ln>
              <a:solidFill>
                <a:srgbClr val="990000"/>
              </a:solidFill>
              <a:tailEnd type="arrow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0741" tIns="136738" rIns="50742" bIns="136739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b="0" kern="1200">
                <a:solidFill>
                  <a:schemeClr val="tx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1421D38-1B43-768B-D942-D44B9AA6037E}"/>
                </a:ext>
              </a:extLst>
            </p:cNvPr>
            <p:cNvSpPr/>
            <p:nvPr/>
          </p:nvSpPr>
          <p:spPr>
            <a:xfrm>
              <a:off x="720733" y="2369251"/>
              <a:ext cx="1335428" cy="801257"/>
            </a:xfrm>
            <a:custGeom>
              <a:avLst/>
              <a:gdLst>
                <a:gd name="connsiteX0" fmla="*/ 0 w 1335428"/>
                <a:gd name="connsiteY0" fmla="*/ 0 h 801257"/>
                <a:gd name="connsiteX1" fmla="*/ 1335428 w 1335428"/>
                <a:gd name="connsiteY1" fmla="*/ 0 h 801257"/>
                <a:gd name="connsiteX2" fmla="*/ 1335428 w 1335428"/>
                <a:gd name="connsiteY2" fmla="*/ 801257 h 801257"/>
                <a:gd name="connsiteX3" fmla="*/ 0 w 1335428"/>
                <a:gd name="connsiteY3" fmla="*/ 801257 h 801257"/>
                <a:gd name="connsiteX4" fmla="*/ 0 w 1335428"/>
                <a:gd name="connsiteY4" fmla="*/ 0 h 801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428" h="801257">
                  <a:moveTo>
                    <a:pt x="0" y="0"/>
                  </a:moveTo>
                  <a:lnTo>
                    <a:pt x="1335428" y="0"/>
                  </a:lnTo>
                  <a:lnTo>
                    <a:pt x="1335428" y="801257"/>
                  </a:lnTo>
                  <a:lnTo>
                    <a:pt x="0" y="8012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1610903"/>
                <a:satOff val="-4623"/>
                <a:lumOff val="-740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5437" tIns="68688" rIns="65437" bIns="68688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dirty="0">
                  <a:solidFill>
                    <a:schemeClr val="tx1"/>
                  </a:solidFill>
                </a:rPr>
                <a:t>Click “Export to iCal”</a:t>
              </a:r>
              <a:endParaRPr lang="en-US" sz="1600" b="0" kern="1200" dirty="0">
                <a:solidFill>
                  <a:schemeClr val="tx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F430D13-A416-7865-FD46-A990E0467B5C}"/>
                </a:ext>
              </a:extLst>
            </p:cNvPr>
            <p:cNvSpPr/>
            <p:nvPr/>
          </p:nvSpPr>
          <p:spPr>
            <a:xfrm>
              <a:off x="1342727" y="4277114"/>
              <a:ext cx="91440" cy="276548"/>
            </a:xfrm>
            <a:custGeom>
              <a:avLst/>
              <a:gdLst>
                <a:gd name="connsiteX0" fmla="*/ 45720 w 91440"/>
                <a:gd name="connsiteY0" fmla="*/ 0 h 276548"/>
                <a:gd name="connsiteX1" fmla="*/ 45720 w 91440"/>
                <a:gd name="connsiteY1" fmla="*/ 276548 h 27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440" h="276548">
                  <a:moveTo>
                    <a:pt x="45720" y="0"/>
                  </a:moveTo>
                  <a:lnTo>
                    <a:pt x="45720" y="276548"/>
                  </a:lnTo>
                </a:path>
              </a:pathLst>
            </a:custGeom>
            <a:noFill/>
            <a:ln>
              <a:solidFill>
                <a:srgbClr val="990000"/>
              </a:solidFill>
              <a:tailEnd type="arrow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0741" tIns="136738" rIns="50742" bIns="136739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b="0" kern="1200">
                <a:solidFill>
                  <a:schemeClr val="tx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7DF9292-7A38-2F11-983D-D5185FEA6371}"/>
                </a:ext>
              </a:extLst>
            </p:cNvPr>
            <p:cNvSpPr/>
            <p:nvPr/>
          </p:nvSpPr>
          <p:spPr>
            <a:xfrm>
              <a:off x="720733" y="3477656"/>
              <a:ext cx="1335428" cy="801257"/>
            </a:xfrm>
            <a:custGeom>
              <a:avLst/>
              <a:gdLst>
                <a:gd name="connsiteX0" fmla="*/ 0 w 1335428"/>
                <a:gd name="connsiteY0" fmla="*/ 0 h 801257"/>
                <a:gd name="connsiteX1" fmla="*/ 1335428 w 1335428"/>
                <a:gd name="connsiteY1" fmla="*/ 0 h 801257"/>
                <a:gd name="connsiteX2" fmla="*/ 1335428 w 1335428"/>
                <a:gd name="connsiteY2" fmla="*/ 801257 h 801257"/>
                <a:gd name="connsiteX3" fmla="*/ 0 w 1335428"/>
                <a:gd name="connsiteY3" fmla="*/ 801257 h 801257"/>
                <a:gd name="connsiteX4" fmla="*/ 0 w 1335428"/>
                <a:gd name="connsiteY4" fmla="*/ 0 h 801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428" h="801257">
                  <a:moveTo>
                    <a:pt x="0" y="0"/>
                  </a:moveTo>
                  <a:lnTo>
                    <a:pt x="1335428" y="0"/>
                  </a:lnTo>
                  <a:lnTo>
                    <a:pt x="1335428" y="801257"/>
                  </a:lnTo>
                  <a:lnTo>
                    <a:pt x="0" y="8012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3221807"/>
                <a:satOff val="-9246"/>
                <a:lumOff val="-1480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5437" tIns="68688" rIns="65437" bIns="68688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dirty="0">
                  <a:solidFill>
                    <a:schemeClr val="tx1"/>
                  </a:solidFill>
                </a:rPr>
                <a:t>File downloads</a:t>
              </a:r>
              <a:endParaRPr lang="en-US" sz="1600" b="0" kern="1200" dirty="0">
                <a:solidFill>
                  <a:schemeClr val="tx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70277E3-8C5C-1694-AEB3-4DB761C5D94C}"/>
                </a:ext>
              </a:extLst>
            </p:cNvPr>
            <p:cNvSpPr/>
            <p:nvPr/>
          </p:nvSpPr>
          <p:spPr>
            <a:xfrm>
              <a:off x="720733" y="4586062"/>
              <a:ext cx="1335428" cy="801257"/>
            </a:xfrm>
            <a:custGeom>
              <a:avLst/>
              <a:gdLst>
                <a:gd name="connsiteX0" fmla="*/ 0 w 1335428"/>
                <a:gd name="connsiteY0" fmla="*/ 0 h 801257"/>
                <a:gd name="connsiteX1" fmla="*/ 1335428 w 1335428"/>
                <a:gd name="connsiteY1" fmla="*/ 0 h 801257"/>
                <a:gd name="connsiteX2" fmla="*/ 1335428 w 1335428"/>
                <a:gd name="connsiteY2" fmla="*/ 801257 h 801257"/>
                <a:gd name="connsiteX3" fmla="*/ 0 w 1335428"/>
                <a:gd name="connsiteY3" fmla="*/ 801257 h 801257"/>
                <a:gd name="connsiteX4" fmla="*/ 0 w 1335428"/>
                <a:gd name="connsiteY4" fmla="*/ 0 h 801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428" h="801257">
                  <a:moveTo>
                    <a:pt x="0" y="0"/>
                  </a:moveTo>
                  <a:lnTo>
                    <a:pt x="1335428" y="0"/>
                  </a:lnTo>
                  <a:lnTo>
                    <a:pt x="1335428" y="801257"/>
                  </a:lnTo>
                  <a:lnTo>
                    <a:pt x="0" y="8012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4832710"/>
                <a:satOff val="-13870"/>
                <a:lumOff val="-22207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5437" tIns="68688" rIns="65437" bIns="68688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dirty="0">
                  <a:solidFill>
                    <a:schemeClr val="tx1"/>
                  </a:solidFill>
                </a:rPr>
                <a:t>Add to personal calendar</a:t>
              </a:r>
              <a:endParaRPr lang="en-US" sz="1600" b="0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8DB88DB-E2D2-AE8C-9114-469542686913}"/>
              </a:ext>
            </a:extLst>
          </p:cNvPr>
          <p:cNvGrpSpPr/>
          <p:nvPr/>
        </p:nvGrpSpPr>
        <p:grpSpPr>
          <a:xfrm>
            <a:off x="-632568" y="1443318"/>
            <a:ext cx="3871331" cy="5235059"/>
            <a:chOff x="152029" y="1260756"/>
            <a:chExt cx="2472837" cy="523505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7708A9A-908D-3D72-790A-9F9BBF422318}"/>
                </a:ext>
              </a:extLst>
            </p:cNvPr>
            <p:cNvSpPr/>
            <p:nvPr/>
          </p:nvSpPr>
          <p:spPr>
            <a:xfrm>
              <a:off x="152029" y="1260756"/>
              <a:ext cx="2472837" cy="5235059"/>
            </a:xfrm>
            <a:prstGeom prst="rect">
              <a:avLst/>
            </a:prstGeom>
            <a:noFill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8CD43D1-B4AF-9A96-3968-BECD3270E21B}"/>
                </a:ext>
              </a:extLst>
            </p:cNvPr>
            <p:cNvSpPr/>
            <p:nvPr/>
          </p:nvSpPr>
          <p:spPr>
            <a:xfrm>
              <a:off x="1342727" y="2060302"/>
              <a:ext cx="91440" cy="276548"/>
            </a:xfrm>
            <a:custGeom>
              <a:avLst/>
              <a:gdLst>
                <a:gd name="connsiteX0" fmla="*/ 45720 w 91440"/>
                <a:gd name="connsiteY0" fmla="*/ 0 h 276548"/>
                <a:gd name="connsiteX1" fmla="*/ 45720 w 91440"/>
                <a:gd name="connsiteY1" fmla="*/ 276548 h 27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440" h="276548">
                  <a:moveTo>
                    <a:pt x="45720" y="0"/>
                  </a:moveTo>
                  <a:lnTo>
                    <a:pt x="45720" y="276548"/>
                  </a:lnTo>
                </a:path>
              </a:pathLst>
            </a:custGeom>
            <a:noFill/>
            <a:ln>
              <a:solidFill>
                <a:srgbClr val="990000"/>
              </a:solidFill>
              <a:tailEnd type="arrow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0741" tIns="136739" rIns="50742" bIns="136738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b="0" kern="1200">
                <a:solidFill>
                  <a:schemeClr val="tx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A084323-7117-24E1-4EFB-BBD8EC3244BD}"/>
                </a:ext>
              </a:extLst>
            </p:cNvPr>
            <p:cNvSpPr/>
            <p:nvPr/>
          </p:nvSpPr>
          <p:spPr>
            <a:xfrm>
              <a:off x="720733" y="1260845"/>
              <a:ext cx="1335428" cy="801257"/>
            </a:xfrm>
            <a:custGeom>
              <a:avLst/>
              <a:gdLst>
                <a:gd name="connsiteX0" fmla="*/ 0 w 1335428"/>
                <a:gd name="connsiteY0" fmla="*/ 0 h 801257"/>
                <a:gd name="connsiteX1" fmla="*/ 1335428 w 1335428"/>
                <a:gd name="connsiteY1" fmla="*/ 0 h 801257"/>
                <a:gd name="connsiteX2" fmla="*/ 1335428 w 1335428"/>
                <a:gd name="connsiteY2" fmla="*/ 801257 h 801257"/>
                <a:gd name="connsiteX3" fmla="*/ 0 w 1335428"/>
                <a:gd name="connsiteY3" fmla="*/ 801257 h 801257"/>
                <a:gd name="connsiteX4" fmla="*/ 0 w 1335428"/>
                <a:gd name="connsiteY4" fmla="*/ 0 h 801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428" h="801257">
                  <a:moveTo>
                    <a:pt x="0" y="0"/>
                  </a:moveTo>
                  <a:lnTo>
                    <a:pt x="1335428" y="0"/>
                  </a:lnTo>
                  <a:lnTo>
                    <a:pt x="1335428" y="801257"/>
                  </a:lnTo>
                  <a:lnTo>
                    <a:pt x="0" y="8012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5437" tIns="68688" rIns="65437" bIns="68688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0" kern="1200" dirty="0">
                  <a:solidFill>
                    <a:schemeClr val="tx1"/>
                  </a:solidFill>
                </a:rPr>
                <a:t>Student sends message on resource/booking</a:t>
              </a: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5BE2C0F-E192-5796-2212-6D71488DCA29}"/>
                </a:ext>
              </a:extLst>
            </p:cNvPr>
            <p:cNvSpPr/>
            <p:nvPr/>
          </p:nvSpPr>
          <p:spPr>
            <a:xfrm>
              <a:off x="1342727" y="3168708"/>
              <a:ext cx="91440" cy="276548"/>
            </a:xfrm>
            <a:custGeom>
              <a:avLst/>
              <a:gdLst>
                <a:gd name="connsiteX0" fmla="*/ 45720 w 91440"/>
                <a:gd name="connsiteY0" fmla="*/ 0 h 276548"/>
                <a:gd name="connsiteX1" fmla="*/ 45720 w 91440"/>
                <a:gd name="connsiteY1" fmla="*/ 276548 h 27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440" h="276548">
                  <a:moveTo>
                    <a:pt x="45720" y="0"/>
                  </a:moveTo>
                  <a:lnTo>
                    <a:pt x="45720" y="276548"/>
                  </a:lnTo>
                </a:path>
              </a:pathLst>
            </a:custGeom>
            <a:noFill/>
            <a:ln>
              <a:solidFill>
                <a:srgbClr val="990000"/>
              </a:solidFill>
              <a:tailEnd type="arrow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0741" tIns="136738" rIns="50742" bIns="136739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b="0" kern="1200">
                <a:solidFill>
                  <a:schemeClr val="tx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2DAE9E9-15B1-245A-96B2-844EFC1E9957}"/>
                </a:ext>
              </a:extLst>
            </p:cNvPr>
            <p:cNvSpPr/>
            <p:nvPr/>
          </p:nvSpPr>
          <p:spPr>
            <a:xfrm>
              <a:off x="720733" y="2369251"/>
              <a:ext cx="1335428" cy="801257"/>
            </a:xfrm>
            <a:custGeom>
              <a:avLst/>
              <a:gdLst>
                <a:gd name="connsiteX0" fmla="*/ 0 w 1335428"/>
                <a:gd name="connsiteY0" fmla="*/ 0 h 801257"/>
                <a:gd name="connsiteX1" fmla="*/ 1335428 w 1335428"/>
                <a:gd name="connsiteY1" fmla="*/ 0 h 801257"/>
                <a:gd name="connsiteX2" fmla="*/ 1335428 w 1335428"/>
                <a:gd name="connsiteY2" fmla="*/ 801257 h 801257"/>
                <a:gd name="connsiteX3" fmla="*/ 0 w 1335428"/>
                <a:gd name="connsiteY3" fmla="*/ 801257 h 801257"/>
                <a:gd name="connsiteX4" fmla="*/ 0 w 1335428"/>
                <a:gd name="connsiteY4" fmla="*/ 0 h 801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428" h="801257">
                  <a:moveTo>
                    <a:pt x="0" y="0"/>
                  </a:moveTo>
                  <a:lnTo>
                    <a:pt x="1335428" y="0"/>
                  </a:lnTo>
                  <a:lnTo>
                    <a:pt x="1335428" y="801257"/>
                  </a:lnTo>
                  <a:lnTo>
                    <a:pt x="0" y="8012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1610903"/>
                <a:satOff val="-4623"/>
                <a:lumOff val="-740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5437" tIns="68688" rIns="65437" bIns="68688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0" kern="1200" dirty="0">
                  <a:solidFill>
                    <a:schemeClr val="tx1"/>
                  </a:solidFill>
                </a:rPr>
                <a:t>Owner/ Admin receives the message</a:t>
              </a: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7F37B0B-E05F-4720-4E5C-3DF69B67923C}"/>
                </a:ext>
              </a:extLst>
            </p:cNvPr>
            <p:cNvSpPr/>
            <p:nvPr/>
          </p:nvSpPr>
          <p:spPr>
            <a:xfrm>
              <a:off x="1342727" y="4277114"/>
              <a:ext cx="91440" cy="276548"/>
            </a:xfrm>
            <a:custGeom>
              <a:avLst/>
              <a:gdLst>
                <a:gd name="connsiteX0" fmla="*/ 45720 w 91440"/>
                <a:gd name="connsiteY0" fmla="*/ 0 h 276548"/>
                <a:gd name="connsiteX1" fmla="*/ 45720 w 91440"/>
                <a:gd name="connsiteY1" fmla="*/ 276548 h 27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440" h="276548">
                  <a:moveTo>
                    <a:pt x="45720" y="0"/>
                  </a:moveTo>
                  <a:lnTo>
                    <a:pt x="45720" y="276548"/>
                  </a:lnTo>
                </a:path>
              </a:pathLst>
            </a:custGeom>
            <a:noFill/>
            <a:ln>
              <a:solidFill>
                <a:srgbClr val="990000"/>
              </a:solidFill>
              <a:tailEnd type="arrow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0741" tIns="136738" rIns="50742" bIns="136739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b="0" kern="1200">
                <a:solidFill>
                  <a:schemeClr val="tx1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54FA4E3-6AA7-6C69-7069-F6DC3943432B}"/>
                </a:ext>
              </a:extLst>
            </p:cNvPr>
            <p:cNvSpPr/>
            <p:nvPr/>
          </p:nvSpPr>
          <p:spPr>
            <a:xfrm>
              <a:off x="720733" y="3477656"/>
              <a:ext cx="1335428" cy="801257"/>
            </a:xfrm>
            <a:custGeom>
              <a:avLst/>
              <a:gdLst>
                <a:gd name="connsiteX0" fmla="*/ 0 w 1335428"/>
                <a:gd name="connsiteY0" fmla="*/ 0 h 801257"/>
                <a:gd name="connsiteX1" fmla="*/ 1335428 w 1335428"/>
                <a:gd name="connsiteY1" fmla="*/ 0 h 801257"/>
                <a:gd name="connsiteX2" fmla="*/ 1335428 w 1335428"/>
                <a:gd name="connsiteY2" fmla="*/ 801257 h 801257"/>
                <a:gd name="connsiteX3" fmla="*/ 0 w 1335428"/>
                <a:gd name="connsiteY3" fmla="*/ 801257 h 801257"/>
                <a:gd name="connsiteX4" fmla="*/ 0 w 1335428"/>
                <a:gd name="connsiteY4" fmla="*/ 0 h 801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428" h="801257">
                  <a:moveTo>
                    <a:pt x="0" y="0"/>
                  </a:moveTo>
                  <a:lnTo>
                    <a:pt x="1335428" y="0"/>
                  </a:lnTo>
                  <a:lnTo>
                    <a:pt x="1335428" y="801257"/>
                  </a:lnTo>
                  <a:lnTo>
                    <a:pt x="0" y="8012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3221807"/>
                <a:satOff val="-9246"/>
                <a:lumOff val="-1480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5437" tIns="68688" rIns="65437" bIns="68688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0" kern="1200" dirty="0">
                  <a:solidFill>
                    <a:schemeClr val="tx1"/>
                  </a:solidFill>
                </a:rPr>
                <a:t>Owner/ Admin replies</a:t>
              </a: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DE913A3-9555-0B6B-9374-FD7E6F32EB62}"/>
                </a:ext>
              </a:extLst>
            </p:cNvPr>
            <p:cNvSpPr/>
            <p:nvPr/>
          </p:nvSpPr>
          <p:spPr>
            <a:xfrm>
              <a:off x="720733" y="4586062"/>
              <a:ext cx="1335428" cy="801257"/>
            </a:xfrm>
            <a:custGeom>
              <a:avLst/>
              <a:gdLst>
                <a:gd name="connsiteX0" fmla="*/ 0 w 1335428"/>
                <a:gd name="connsiteY0" fmla="*/ 0 h 801257"/>
                <a:gd name="connsiteX1" fmla="*/ 1335428 w 1335428"/>
                <a:gd name="connsiteY1" fmla="*/ 0 h 801257"/>
                <a:gd name="connsiteX2" fmla="*/ 1335428 w 1335428"/>
                <a:gd name="connsiteY2" fmla="*/ 801257 h 801257"/>
                <a:gd name="connsiteX3" fmla="*/ 0 w 1335428"/>
                <a:gd name="connsiteY3" fmla="*/ 801257 h 801257"/>
                <a:gd name="connsiteX4" fmla="*/ 0 w 1335428"/>
                <a:gd name="connsiteY4" fmla="*/ 0 h 801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428" h="801257">
                  <a:moveTo>
                    <a:pt x="0" y="0"/>
                  </a:moveTo>
                  <a:lnTo>
                    <a:pt x="1335428" y="0"/>
                  </a:lnTo>
                  <a:lnTo>
                    <a:pt x="1335428" y="801257"/>
                  </a:lnTo>
                  <a:lnTo>
                    <a:pt x="0" y="8012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4832710"/>
                <a:satOff val="-13870"/>
                <a:lumOff val="-22207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5437" tIns="68688" rIns="65437" bIns="68688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0" kern="1200" dirty="0">
                  <a:solidFill>
                    <a:schemeClr val="tx1"/>
                  </a:solidFill>
                </a:rPr>
                <a:t>Conversation thread updates for both users</a:t>
              </a:r>
            </a:p>
          </p:txBody>
        </p:sp>
      </p:grp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146E632-E8FD-DD80-6A1C-DBA842411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638" y="1600515"/>
            <a:ext cx="3732600" cy="3778058"/>
          </a:xfrm>
          <a:prstGeom prst="rect">
            <a:avLst/>
          </a:prstGeom>
          <a:ln>
            <a:solidFill>
              <a:srgbClr val="990000"/>
            </a:solidFill>
          </a:ln>
        </p:spPr>
      </p:pic>
      <p:pic>
        <p:nvPicPr>
          <p:cNvPr id="20" name="Picture 19" descr="A screenshot of a phone&#10;&#10;AI-generated content may be incorrect.">
            <a:extLst>
              <a:ext uri="{FF2B5EF4-FFF2-40B4-BE49-F238E27FC236}">
                <a16:creationId xmlns:a16="http://schemas.microsoft.com/office/drawing/2014/main" id="{EA4DC315-F5B6-0439-7EFF-387FFD5D1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56" y="1390605"/>
            <a:ext cx="3126459" cy="1078993"/>
          </a:xfrm>
          <a:prstGeom prst="rect">
            <a:avLst/>
          </a:prstGeom>
          <a:ln>
            <a:solidFill>
              <a:srgbClr val="990000"/>
            </a:solidFill>
          </a:ln>
        </p:spPr>
      </p:pic>
      <p:pic>
        <p:nvPicPr>
          <p:cNvPr id="31" name="Picture 30" descr="A screenshot of a phone&#10;&#10;AI-generated content may be incorrect.">
            <a:extLst>
              <a:ext uri="{FF2B5EF4-FFF2-40B4-BE49-F238E27FC236}">
                <a16:creationId xmlns:a16="http://schemas.microsoft.com/office/drawing/2014/main" id="{FC35AA50-A143-8890-D9DE-D33195A785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55" y="2589451"/>
            <a:ext cx="3126459" cy="980337"/>
          </a:xfrm>
          <a:prstGeom prst="rect">
            <a:avLst/>
          </a:prstGeom>
          <a:ln>
            <a:solidFill>
              <a:srgbClr val="990000"/>
            </a:solidFill>
          </a:ln>
        </p:spPr>
      </p:pic>
      <p:pic>
        <p:nvPicPr>
          <p:cNvPr id="33" name="Picture 32" descr="A white paper with black lines&#10;&#10;AI-generated content may be incorrect.">
            <a:extLst>
              <a:ext uri="{FF2B5EF4-FFF2-40B4-BE49-F238E27FC236}">
                <a16:creationId xmlns:a16="http://schemas.microsoft.com/office/drawing/2014/main" id="{0FBAC7D7-FB77-E089-6BC5-B957AEACA0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242" y="3689641"/>
            <a:ext cx="3126459" cy="1116993"/>
          </a:xfrm>
          <a:prstGeom prst="rect">
            <a:avLst/>
          </a:prstGeom>
          <a:ln>
            <a:solidFill>
              <a:srgbClr val="990000"/>
            </a:solidFill>
          </a:ln>
        </p:spPr>
      </p:pic>
      <p:pic>
        <p:nvPicPr>
          <p:cNvPr id="35" name="Picture 34" descr="A screenshot of a phone&#10;&#10;AI-generated content may be incorrect.">
            <a:extLst>
              <a:ext uri="{FF2B5EF4-FFF2-40B4-BE49-F238E27FC236}">
                <a16:creationId xmlns:a16="http://schemas.microsoft.com/office/drawing/2014/main" id="{07F93305-F53C-41FC-F61D-2F20E04489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242" y="4921079"/>
            <a:ext cx="3135458" cy="1092632"/>
          </a:xfrm>
          <a:prstGeom prst="rect">
            <a:avLst/>
          </a:prstGeom>
          <a:ln>
            <a:solidFill>
              <a:srgbClr val="990000"/>
            </a:solidFill>
          </a:ln>
        </p:spPr>
      </p:pic>
    </p:spTree>
    <p:extLst>
      <p:ext uri="{BB962C8B-B14F-4D97-AF65-F5344CB8AC3E}">
        <p14:creationId xmlns:p14="http://schemas.microsoft.com/office/powerpoint/2010/main" val="904815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B234D-2289-42B7-1EE8-EECB47CE0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BEC7AE-6698-897B-8800-6C50AD2E8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495815"/>
            <a:ext cx="2743200" cy="365125"/>
          </a:xfrm>
        </p:spPr>
        <p:txBody>
          <a:bodyPr/>
          <a:lstStyle/>
          <a:p>
            <a:fld id="{D0B5FFA0-136F-462E-B8C6-AE8ED6E6891F}" type="slidenum">
              <a:rPr lang="en-US" smtClean="0"/>
              <a:t>7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DD96246-DA8A-1DED-C170-C5C7E83C0C7D}"/>
              </a:ext>
            </a:extLst>
          </p:cNvPr>
          <p:cNvSpPr/>
          <p:nvPr/>
        </p:nvSpPr>
        <p:spPr>
          <a:xfrm>
            <a:off x="0" y="-1321"/>
            <a:ext cx="12192000" cy="1078992"/>
          </a:xfrm>
          <a:prstGeom prst="rect">
            <a:avLst/>
          </a:prstGeom>
          <a:solidFill>
            <a:srgbClr val="99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200" b="1" dirty="0"/>
              <a:t>The AI concierge guides users through the platform while admins maintain control with robust user management tools</a:t>
            </a:r>
            <a:endParaRPr lang="en-US" sz="3200" b="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23A76E8-49F6-AE6C-0AD6-0C4A131B8FAF}"/>
              </a:ext>
            </a:extLst>
          </p:cNvPr>
          <p:cNvGrpSpPr/>
          <p:nvPr/>
        </p:nvGrpSpPr>
        <p:grpSpPr>
          <a:xfrm>
            <a:off x="-818016" y="1861380"/>
            <a:ext cx="4515069" cy="4634435"/>
            <a:chOff x="152029" y="1260756"/>
            <a:chExt cx="2354503" cy="4634435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8FA1F98-6A0F-2462-70AE-7EABA72C286D}"/>
                </a:ext>
              </a:extLst>
            </p:cNvPr>
            <p:cNvSpPr/>
            <p:nvPr/>
          </p:nvSpPr>
          <p:spPr>
            <a:xfrm>
              <a:off x="152029" y="1260756"/>
              <a:ext cx="2354503" cy="4634435"/>
            </a:xfrm>
            <a:prstGeom prst="rect">
              <a:avLst/>
            </a:prstGeom>
            <a:noFill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B1F71F2-790E-7B80-D92E-D98C512A76BC}"/>
                </a:ext>
              </a:extLst>
            </p:cNvPr>
            <p:cNvSpPr/>
            <p:nvPr/>
          </p:nvSpPr>
          <p:spPr>
            <a:xfrm>
              <a:off x="1283560" y="1968857"/>
              <a:ext cx="91440" cy="241225"/>
            </a:xfrm>
            <a:custGeom>
              <a:avLst/>
              <a:gdLst>
                <a:gd name="connsiteX0" fmla="*/ 45720 w 91440"/>
                <a:gd name="connsiteY0" fmla="*/ 0 h 241225"/>
                <a:gd name="connsiteX1" fmla="*/ 45720 w 91440"/>
                <a:gd name="connsiteY1" fmla="*/ 241225 h 24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440" h="241225">
                  <a:moveTo>
                    <a:pt x="45720" y="0"/>
                  </a:moveTo>
                  <a:lnTo>
                    <a:pt x="45720" y="241225"/>
                  </a:lnTo>
                </a:path>
              </a:pathLst>
            </a:custGeom>
            <a:noFill/>
            <a:ln>
              <a:solidFill>
                <a:srgbClr val="990000"/>
              </a:solidFill>
              <a:tailEnd type="arrow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1624" tIns="119253" rIns="51625" bIns="119254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b="0" kern="1200">
                <a:solidFill>
                  <a:schemeClr val="tx1"/>
                </a:solidFill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834DC2D-F675-6E82-F119-23C4A7D7EBFC}"/>
                </a:ext>
              </a:extLst>
            </p:cNvPr>
            <p:cNvSpPr/>
            <p:nvPr/>
          </p:nvSpPr>
          <p:spPr>
            <a:xfrm>
              <a:off x="738355" y="1261547"/>
              <a:ext cx="1181850" cy="709110"/>
            </a:xfrm>
            <a:custGeom>
              <a:avLst/>
              <a:gdLst>
                <a:gd name="connsiteX0" fmla="*/ 0 w 1181850"/>
                <a:gd name="connsiteY0" fmla="*/ 0 h 709110"/>
                <a:gd name="connsiteX1" fmla="*/ 1181850 w 1181850"/>
                <a:gd name="connsiteY1" fmla="*/ 0 h 709110"/>
                <a:gd name="connsiteX2" fmla="*/ 1181850 w 1181850"/>
                <a:gd name="connsiteY2" fmla="*/ 709110 h 709110"/>
                <a:gd name="connsiteX3" fmla="*/ 0 w 1181850"/>
                <a:gd name="connsiteY3" fmla="*/ 709110 h 709110"/>
                <a:gd name="connsiteX4" fmla="*/ 0 w 1181850"/>
                <a:gd name="connsiteY4" fmla="*/ 0 h 709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1850" h="709110">
                  <a:moveTo>
                    <a:pt x="0" y="0"/>
                  </a:moveTo>
                  <a:lnTo>
                    <a:pt x="1181850" y="0"/>
                  </a:lnTo>
                  <a:lnTo>
                    <a:pt x="1181850" y="709110"/>
                  </a:lnTo>
                  <a:lnTo>
                    <a:pt x="0" y="7091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7912" tIns="60788" rIns="57912" bIns="60788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b="0" kern="1200" dirty="0">
                  <a:solidFill>
                    <a:schemeClr val="tx1"/>
                  </a:solidFill>
                </a:rPr>
                <a:t>Open AI Concierge</a:t>
              </a: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3AC1108-4786-AF29-72E4-8B6A25404F11}"/>
                </a:ext>
              </a:extLst>
            </p:cNvPr>
            <p:cNvSpPr/>
            <p:nvPr/>
          </p:nvSpPr>
          <p:spPr>
            <a:xfrm>
              <a:off x="1283560" y="2949792"/>
              <a:ext cx="91440" cy="241225"/>
            </a:xfrm>
            <a:custGeom>
              <a:avLst/>
              <a:gdLst>
                <a:gd name="connsiteX0" fmla="*/ 45720 w 91440"/>
                <a:gd name="connsiteY0" fmla="*/ 0 h 241225"/>
                <a:gd name="connsiteX1" fmla="*/ 45720 w 91440"/>
                <a:gd name="connsiteY1" fmla="*/ 241225 h 24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440" h="241225">
                  <a:moveTo>
                    <a:pt x="45720" y="0"/>
                  </a:moveTo>
                  <a:lnTo>
                    <a:pt x="45720" y="241225"/>
                  </a:lnTo>
                </a:path>
              </a:pathLst>
            </a:custGeom>
            <a:noFill/>
            <a:ln>
              <a:solidFill>
                <a:srgbClr val="990000"/>
              </a:solidFill>
              <a:tailEnd type="arrow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1624" tIns="119254" rIns="51625" bIns="119253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b="0" kern="1200">
                <a:solidFill>
                  <a:schemeClr val="tx1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40BE63F-F5BA-012F-EF57-CDA5FD305D08}"/>
                </a:ext>
              </a:extLst>
            </p:cNvPr>
            <p:cNvSpPr/>
            <p:nvPr/>
          </p:nvSpPr>
          <p:spPr>
            <a:xfrm>
              <a:off x="738355" y="2242482"/>
              <a:ext cx="1181850" cy="709110"/>
            </a:xfrm>
            <a:custGeom>
              <a:avLst/>
              <a:gdLst>
                <a:gd name="connsiteX0" fmla="*/ 0 w 1181850"/>
                <a:gd name="connsiteY0" fmla="*/ 0 h 709110"/>
                <a:gd name="connsiteX1" fmla="*/ 1181850 w 1181850"/>
                <a:gd name="connsiteY1" fmla="*/ 0 h 709110"/>
                <a:gd name="connsiteX2" fmla="*/ 1181850 w 1181850"/>
                <a:gd name="connsiteY2" fmla="*/ 709110 h 709110"/>
                <a:gd name="connsiteX3" fmla="*/ 0 w 1181850"/>
                <a:gd name="connsiteY3" fmla="*/ 709110 h 709110"/>
                <a:gd name="connsiteX4" fmla="*/ 0 w 1181850"/>
                <a:gd name="connsiteY4" fmla="*/ 0 h 709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1850" h="709110">
                  <a:moveTo>
                    <a:pt x="0" y="0"/>
                  </a:moveTo>
                  <a:lnTo>
                    <a:pt x="1181850" y="0"/>
                  </a:lnTo>
                  <a:lnTo>
                    <a:pt x="1181850" y="709110"/>
                  </a:lnTo>
                  <a:lnTo>
                    <a:pt x="0" y="7091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1610903"/>
                <a:satOff val="-4623"/>
                <a:lumOff val="-7402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7912" tIns="60788" rIns="57912" bIns="60788" numCol="1" spcCol="1270" anchor="ctr" anchorCtr="0">
              <a:noAutofit/>
            </a:bodyPr>
            <a:lstStyle/>
            <a:p>
              <a:pPr lvl="0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>
                  <a:solidFill>
                    <a:schemeClr val="tx1"/>
                  </a:solidFill>
                </a:rPr>
                <a:t>Ask any question about using the platform</a:t>
              </a:r>
              <a:endParaRPr lang="en-US" sz="1600" b="0" kern="1200" dirty="0">
                <a:solidFill>
                  <a:schemeClr val="tx1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0601D81-52FB-E8E5-8F4E-E716B69B7AD7}"/>
                </a:ext>
              </a:extLst>
            </p:cNvPr>
            <p:cNvSpPr/>
            <p:nvPr/>
          </p:nvSpPr>
          <p:spPr>
            <a:xfrm>
              <a:off x="1283560" y="3930728"/>
              <a:ext cx="91440" cy="241225"/>
            </a:xfrm>
            <a:custGeom>
              <a:avLst/>
              <a:gdLst>
                <a:gd name="connsiteX0" fmla="*/ 45720 w 91440"/>
                <a:gd name="connsiteY0" fmla="*/ 0 h 241225"/>
                <a:gd name="connsiteX1" fmla="*/ 45720 w 91440"/>
                <a:gd name="connsiteY1" fmla="*/ 241225 h 24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440" h="241225">
                  <a:moveTo>
                    <a:pt x="45720" y="0"/>
                  </a:moveTo>
                  <a:lnTo>
                    <a:pt x="45720" y="241225"/>
                  </a:lnTo>
                </a:path>
              </a:pathLst>
            </a:custGeom>
            <a:noFill/>
            <a:ln>
              <a:solidFill>
                <a:srgbClr val="990000"/>
              </a:solidFill>
              <a:tailEnd type="arrow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1624" tIns="119254" rIns="51625" bIns="119253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b="0" kern="1200">
                <a:solidFill>
                  <a:schemeClr val="tx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5E5247B-0A74-270B-76C2-841E1EC4DBE4}"/>
                </a:ext>
              </a:extLst>
            </p:cNvPr>
            <p:cNvSpPr/>
            <p:nvPr/>
          </p:nvSpPr>
          <p:spPr>
            <a:xfrm>
              <a:off x="738355" y="3223418"/>
              <a:ext cx="1181850" cy="709110"/>
            </a:xfrm>
            <a:custGeom>
              <a:avLst/>
              <a:gdLst>
                <a:gd name="connsiteX0" fmla="*/ 0 w 1181850"/>
                <a:gd name="connsiteY0" fmla="*/ 0 h 709110"/>
                <a:gd name="connsiteX1" fmla="*/ 1181850 w 1181850"/>
                <a:gd name="connsiteY1" fmla="*/ 0 h 709110"/>
                <a:gd name="connsiteX2" fmla="*/ 1181850 w 1181850"/>
                <a:gd name="connsiteY2" fmla="*/ 709110 h 709110"/>
                <a:gd name="connsiteX3" fmla="*/ 0 w 1181850"/>
                <a:gd name="connsiteY3" fmla="*/ 709110 h 709110"/>
                <a:gd name="connsiteX4" fmla="*/ 0 w 1181850"/>
                <a:gd name="connsiteY4" fmla="*/ 0 h 709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1850" h="709110">
                  <a:moveTo>
                    <a:pt x="0" y="0"/>
                  </a:moveTo>
                  <a:lnTo>
                    <a:pt x="1181850" y="0"/>
                  </a:lnTo>
                  <a:lnTo>
                    <a:pt x="1181850" y="709110"/>
                  </a:lnTo>
                  <a:lnTo>
                    <a:pt x="0" y="7091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3221807"/>
                <a:satOff val="-9246"/>
                <a:lumOff val="-14805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7912" tIns="60788" rIns="57912" bIns="60788" numCol="1" spcCol="1270" anchor="ctr" anchorCtr="0">
              <a:noAutofit/>
            </a:bodyPr>
            <a:lstStyle/>
            <a:p>
              <a:pPr lvl="0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>
                  <a:solidFill>
                    <a:schemeClr val="tx1"/>
                  </a:solidFill>
                </a:rPr>
                <a:t>Concierge provides step-by-step guidance</a:t>
              </a:r>
              <a:endParaRPr lang="en-US" sz="1600" b="0" kern="1200" dirty="0">
                <a:solidFill>
                  <a:schemeClr val="tx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49B47A5-8E30-7128-A6FA-EC611A5DDFA3}"/>
                </a:ext>
              </a:extLst>
            </p:cNvPr>
            <p:cNvSpPr/>
            <p:nvPr/>
          </p:nvSpPr>
          <p:spPr>
            <a:xfrm>
              <a:off x="738355" y="4204354"/>
              <a:ext cx="1181850" cy="709110"/>
            </a:xfrm>
            <a:custGeom>
              <a:avLst/>
              <a:gdLst>
                <a:gd name="connsiteX0" fmla="*/ 0 w 1181850"/>
                <a:gd name="connsiteY0" fmla="*/ 0 h 709110"/>
                <a:gd name="connsiteX1" fmla="*/ 1181850 w 1181850"/>
                <a:gd name="connsiteY1" fmla="*/ 0 h 709110"/>
                <a:gd name="connsiteX2" fmla="*/ 1181850 w 1181850"/>
                <a:gd name="connsiteY2" fmla="*/ 709110 h 709110"/>
                <a:gd name="connsiteX3" fmla="*/ 0 w 1181850"/>
                <a:gd name="connsiteY3" fmla="*/ 709110 h 709110"/>
                <a:gd name="connsiteX4" fmla="*/ 0 w 1181850"/>
                <a:gd name="connsiteY4" fmla="*/ 0 h 709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1850" h="709110">
                  <a:moveTo>
                    <a:pt x="0" y="0"/>
                  </a:moveTo>
                  <a:lnTo>
                    <a:pt x="1181850" y="0"/>
                  </a:lnTo>
                  <a:lnTo>
                    <a:pt x="1181850" y="709110"/>
                  </a:lnTo>
                  <a:lnTo>
                    <a:pt x="0" y="7091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4832710"/>
                <a:satOff val="-13870"/>
                <a:lumOff val="-22207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7912" tIns="60788" rIns="57912" bIns="60788" numCol="1" spcCol="1270" anchor="ctr" anchorCtr="0">
              <a:noAutofit/>
            </a:bodyPr>
            <a:lstStyle/>
            <a:p>
              <a:pPr lvl="0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>
                  <a:solidFill>
                    <a:schemeClr val="tx1"/>
                  </a:solidFill>
                </a:rPr>
                <a:t>User follows instructions</a:t>
              </a:r>
              <a:endParaRPr lang="en-US" sz="1600" b="0" kern="12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A73A098-2D39-DA99-ADB7-C9CF818137EB}"/>
              </a:ext>
            </a:extLst>
          </p:cNvPr>
          <p:cNvGrpSpPr/>
          <p:nvPr/>
        </p:nvGrpSpPr>
        <p:grpSpPr>
          <a:xfrm>
            <a:off x="8360442" y="2099116"/>
            <a:ext cx="3673840" cy="3170815"/>
            <a:chOff x="5448300" y="1444216"/>
            <a:chExt cx="6324599" cy="4749208"/>
          </a:xfrm>
        </p:grpSpPr>
        <p:pic>
          <p:nvPicPr>
            <p:cNvPr id="18" name="Picture 17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47D2DAE8-B5E2-E346-3FFC-76BF3FD69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8300" y="1444216"/>
              <a:ext cx="6324598" cy="1475595"/>
            </a:xfrm>
            <a:prstGeom prst="rect">
              <a:avLst/>
            </a:prstGeom>
            <a:ln>
              <a:solidFill>
                <a:srgbClr val="990000"/>
              </a:solidFill>
            </a:ln>
          </p:spPr>
        </p:pic>
        <p:pic>
          <p:nvPicPr>
            <p:cNvPr id="19" name="Picture 18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BEC39A20-5B5A-1E7F-B4A0-AB82D6EB0A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8300" y="3082737"/>
              <a:ext cx="6324599" cy="3110687"/>
            </a:xfrm>
            <a:prstGeom prst="rect">
              <a:avLst/>
            </a:prstGeom>
            <a:ln>
              <a:solidFill>
                <a:srgbClr val="990000"/>
              </a:solidFill>
            </a:ln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9CB04D1-C284-092A-D7CE-E567F9061353}"/>
              </a:ext>
            </a:extLst>
          </p:cNvPr>
          <p:cNvGrpSpPr/>
          <p:nvPr/>
        </p:nvGrpSpPr>
        <p:grpSpPr>
          <a:xfrm>
            <a:off x="4742553" y="1474423"/>
            <a:ext cx="4515069" cy="4634436"/>
            <a:chOff x="1580779" y="1370483"/>
            <a:chExt cx="4515069" cy="4634436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EA755E7-FEB2-E129-0F9D-E9FAF9A8040C}"/>
                </a:ext>
              </a:extLst>
            </p:cNvPr>
            <p:cNvGrpSpPr/>
            <p:nvPr/>
          </p:nvGrpSpPr>
          <p:grpSpPr>
            <a:xfrm>
              <a:off x="1580779" y="1370483"/>
              <a:ext cx="4515069" cy="4634435"/>
              <a:chOff x="152029" y="1260756"/>
              <a:chExt cx="2354503" cy="4634435"/>
            </a:xfrm>
          </p:grpSpPr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6C6BAC7C-44F3-813E-B73E-B0C16E37D1F1}"/>
                  </a:ext>
                </a:extLst>
              </p:cNvPr>
              <p:cNvSpPr/>
              <p:nvPr/>
            </p:nvSpPr>
            <p:spPr>
              <a:xfrm>
                <a:off x="152029" y="1260756"/>
                <a:ext cx="2354503" cy="4634435"/>
              </a:xfrm>
              <a:prstGeom prst="rect">
                <a:avLst/>
              </a:prstGeom>
              <a:noFill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68133307-79F2-601D-D444-8A633115B91E}"/>
                  </a:ext>
                </a:extLst>
              </p:cNvPr>
              <p:cNvSpPr/>
              <p:nvPr/>
            </p:nvSpPr>
            <p:spPr>
              <a:xfrm>
                <a:off x="1283560" y="1968857"/>
                <a:ext cx="91440" cy="241225"/>
              </a:xfrm>
              <a:custGeom>
                <a:avLst/>
                <a:gdLst>
                  <a:gd name="connsiteX0" fmla="*/ 45720 w 91440"/>
                  <a:gd name="connsiteY0" fmla="*/ 0 h 241225"/>
                  <a:gd name="connsiteX1" fmla="*/ 45720 w 91440"/>
                  <a:gd name="connsiteY1" fmla="*/ 241225 h 241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1440" h="241225">
                    <a:moveTo>
                      <a:pt x="45720" y="0"/>
                    </a:moveTo>
                    <a:lnTo>
                      <a:pt x="45720" y="241225"/>
                    </a:lnTo>
                  </a:path>
                </a:pathLst>
              </a:custGeom>
              <a:noFill/>
              <a:ln>
                <a:solidFill>
                  <a:srgbClr val="990000"/>
                </a:solidFill>
                <a:tailEnd type="arrow"/>
              </a:ln>
            </p:spPr>
            <p:style>
              <a:lnRef idx="1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51624" tIns="119253" rIns="51625" bIns="119254" numCol="1" spcCol="1270" anchor="ctr" anchorCtr="0">
                <a:noAutofit/>
              </a:bodyPr>
              <a:lstStyle/>
              <a:p>
                <a:pPr marL="0" lvl="0" indent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600" b="0" kern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2D313956-2F96-5EA1-5E6F-9A20D5B0A3C6}"/>
                  </a:ext>
                </a:extLst>
              </p:cNvPr>
              <p:cNvSpPr/>
              <p:nvPr/>
            </p:nvSpPr>
            <p:spPr>
              <a:xfrm>
                <a:off x="738355" y="1261547"/>
                <a:ext cx="1181850" cy="709110"/>
              </a:xfrm>
              <a:custGeom>
                <a:avLst/>
                <a:gdLst>
                  <a:gd name="connsiteX0" fmla="*/ 0 w 1181850"/>
                  <a:gd name="connsiteY0" fmla="*/ 0 h 709110"/>
                  <a:gd name="connsiteX1" fmla="*/ 1181850 w 1181850"/>
                  <a:gd name="connsiteY1" fmla="*/ 0 h 709110"/>
                  <a:gd name="connsiteX2" fmla="*/ 1181850 w 1181850"/>
                  <a:gd name="connsiteY2" fmla="*/ 709110 h 709110"/>
                  <a:gd name="connsiteX3" fmla="*/ 0 w 1181850"/>
                  <a:gd name="connsiteY3" fmla="*/ 709110 h 709110"/>
                  <a:gd name="connsiteX4" fmla="*/ 0 w 1181850"/>
                  <a:gd name="connsiteY4" fmla="*/ 0 h 709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81850" h="709110">
                    <a:moveTo>
                      <a:pt x="0" y="0"/>
                    </a:moveTo>
                    <a:lnTo>
                      <a:pt x="1181850" y="0"/>
                    </a:lnTo>
                    <a:lnTo>
                      <a:pt x="1181850" y="709110"/>
                    </a:lnTo>
                    <a:lnTo>
                      <a:pt x="0" y="7091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solidFill>
                  <a:srgbClr val="990000"/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7912" tIns="60788" rIns="57912" bIns="60788" numCol="1" spcCol="1270" anchor="ctr" anchorCtr="0">
                <a:noAutofit/>
              </a:bodyPr>
              <a:lstStyle/>
              <a:p>
                <a:pPr marL="0" lvl="0" indent="0" algn="l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sz="1600" b="0" kern="1200" dirty="0">
                    <a:solidFill>
                      <a:schemeClr val="tx1"/>
                    </a:solidFill>
                  </a:rPr>
                  <a:t>Admin opens “Manage Users”</a:t>
                </a: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3BA6BC8-CA87-34D1-55C0-769E4DE13D37}"/>
                  </a:ext>
                </a:extLst>
              </p:cNvPr>
              <p:cNvSpPr/>
              <p:nvPr/>
            </p:nvSpPr>
            <p:spPr>
              <a:xfrm>
                <a:off x="1283560" y="2949792"/>
                <a:ext cx="91440" cy="241225"/>
              </a:xfrm>
              <a:custGeom>
                <a:avLst/>
                <a:gdLst>
                  <a:gd name="connsiteX0" fmla="*/ 45720 w 91440"/>
                  <a:gd name="connsiteY0" fmla="*/ 0 h 241225"/>
                  <a:gd name="connsiteX1" fmla="*/ 45720 w 91440"/>
                  <a:gd name="connsiteY1" fmla="*/ 241225 h 241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1440" h="241225">
                    <a:moveTo>
                      <a:pt x="45720" y="0"/>
                    </a:moveTo>
                    <a:lnTo>
                      <a:pt x="45720" y="241225"/>
                    </a:lnTo>
                  </a:path>
                </a:pathLst>
              </a:custGeom>
              <a:noFill/>
              <a:ln>
                <a:solidFill>
                  <a:srgbClr val="990000"/>
                </a:solidFill>
                <a:tailEnd type="arrow"/>
              </a:ln>
            </p:spPr>
            <p:style>
              <a:lnRef idx="1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51624" tIns="119254" rIns="51625" bIns="119253" numCol="1" spcCol="1270" anchor="ctr" anchorCtr="0">
                <a:noAutofit/>
              </a:bodyPr>
              <a:lstStyle/>
              <a:p>
                <a:pPr marL="0" lvl="0" indent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600" b="0" kern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0664B0B5-2F0C-DF40-6FAE-39F8C70D3CCF}"/>
                  </a:ext>
                </a:extLst>
              </p:cNvPr>
              <p:cNvSpPr/>
              <p:nvPr/>
            </p:nvSpPr>
            <p:spPr>
              <a:xfrm>
                <a:off x="738355" y="2242482"/>
                <a:ext cx="1181850" cy="709110"/>
              </a:xfrm>
              <a:custGeom>
                <a:avLst/>
                <a:gdLst>
                  <a:gd name="connsiteX0" fmla="*/ 0 w 1181850"/>
                  <a:gd name="connsiteY0" fmla="*/ 0 h 709110"/>
                  <a:gd name="connsiteX1" fmla="*/ 1181850 w 1181850"/>
                  <a:gd name="connsiteY1" fmla="*/ 0 h 709110"/>
                  <a:gd name="connsiteX2" fmla="*/ 1181850 w 1181850"/>
                  <a:gd name="connsiteY2" fmla="*/ 709110 h 709110"/>
                  <a:gd name="connsiteX3" fmla="*/ 0 w 1181850"/>
                  <a:gd name="connsiteY3" fmla="*/ 709110 h 709110"/>
                  <a:gd name="connsiteX4" fmla="*/ 0 w 1181850"/>
                  <a:gd name="connsiteY4" fmla="*/ 0 h 709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81850" h="709110">
                    <a:moveTo>
                      <a:pt x="0" y="0"/>
                    </a:moveTo>
                    <a:lnTo>
                      <a:pt x="1181850" y="0"/>
                    </a:lnTo>
                    <a:lnTo>
                      <a:pt x="1181850" y="709110"/>
                    </a:lnTo>
                    <a:lnTo>
                      <a:pt x="0" y="7091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solidFill>
                  <a:srgbClr val="990000"/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2">
                  <a:hueOff val="1610903"/>
                  <a:satOff val="-4623"/>
                  <a:lumOff val="-7402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7912" tIns="60788" rIns="57912" bIns="60788" numCol="1" spcCol="1270" anchor="ctr" anchorCtr="0">
                <a:noAutofit/>
              </a:bodyPr>
              <a:lstStyle/>
              <a:p>
                <a:pPr lvl="0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600" dirty="0">
                    <a:solidFill>
                      <a:schemeClr val="tx1"/>
                    </a:solidFill>
                  </a:rPr>
                  <a:t>Search/select a user</a:t>
                </a:r>
                <a:endParaRPr lang="en-US" sz="1600" b="0" kern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223BE0D-497A-AD29-B2C9-9FA1BD54DDD0}"/>
                  </a:ext>
                </a:extLst>
              </p:cNvPr>
              <p:cNvSpPr/>
              <p:nvPr/>
            </p:nvSpPr>
            <p:spPr>
              <a:xfrm>
                <a:off x="1283560" y="3930728"/>
                <a:ext cx="91440" cy="241225"/>
              </a:xfrm>
              <a:custGeom>
                <a:avLst/>
                <a:gdLst>
                  <a:gd name="connsiteX0" fmla="*/ 45720 w 91440"/>
                  <a:gd name="connsiteY0" fmla="*/ 0 h 241225"/>
                  <a:gd name="connsiteX1" fmla="*/ 45720 w 91440"/>
                  <a:gd name="connsiteY1" fmla="*/ 241225 h 241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1440" h="241225">
                    <a:moveTo>
                      <a:pt x="45720" y="0"/>
                    </a:moveTo>
                    <a:lnTo>
                      <a:pt x="45720" y="241225"/>
                    </a:lnTo>
                  </a:path>
                </a:pathLst>
              </a:custGeom>
              <a:noFill/>
              <a:ln>
                <a:solidFill>
                  <a:srgbClr val="990000"/>
                </a:solidFill>
                <a:tailEnd type="arrow"/>
              </a:ln>
            </p:spPr>
            <p:style>
              <a:lnRef idx="1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51624" tIns="119254" rIns="51625" bIns="119253" numCol="1" spcCol="1270" anchor="ctr" anchorCtr="0">
                <a:noAutofit/>
              </a:bodyPr>
              <a:lstStyle/>
              <a:p>
                <a:pPr marL="0" lvl="0" indent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en-US" sz="1600" b="0" kern="120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20485A1E-75C6-3500-B4FE-5D58A725348D}"/>
                  </a:ext>
                </a:extLst>
              </p:cNvPr>
              <p:cNvSpPr/>
              <p:nvPr/>
            </p:nvSpPr>
            <p:spPr>
              <a:xfrm>
                <a:off x="738355" y="3223418"/>
                <a:ext cx="1181850" cy="709110"/>
              </a:xfrm>
              <a:custGeom>
                <a:avLst/>
                <a:gdLst>
                  <a:gd name="connsiteX0" fmla="*/ 0 w 1181850"/>
                  <a:gd name="connsiteY0" fmla="*/ 0 h 709110"/>
                  <a:gd name="connsiteX1" fmla="*/ 1181850 w 1181850"/>
                  <a:gd name="connsiteY1" fmla="*/ 0 h 709110"/>
                  <a:gd name="connsiteX2" fmla="*/ 1181850 w 1181850"/>
                  <a:gd name="connsiteY2" fmla="*/ 709110 h 709110"/>
                  <a:gd name="connsiteX3" fmla="*/ 0 w 1181850"/>
                  <a:gd name="connsiteY3" fmla="*/ 709110 h 709110"/>
                  <a:gd name="connsiteX4" fmla="*/ 0 w 1181850"/>
                  <a:gd name="connsiteY4" fmla="*/ 0 h 709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81850" h="709110">
                    <a:moveTo>
                      <a:pt x="0" y="0"/>
                    </a:moveTo>
                    <a:lnTo>
                      <a:pt x="1181850" y="0"/>
                    </a:lnTo>
                    <a:lnTo>
                      <a:pt x="1181850" y="709110"/>
                    </a:lnTo>
                    <a:lnTo>
                      <a:pt x="0" y="7091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solidFill>
                  <a:srgbClr val="990000"/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2">
                  <a:hueOff val="3221807"/>
                  <a:satOff val="-9246"/>
                  <a:lumOff val="-14805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7912" tIns="60788" rIns="57912" bIns="60788" numCol="1" spcCol="1270" anchor="ctr" anchorCtr="0">
                <a:noAutofit/>
              </a:bodyPr>
              <a:lstStyle/>
              <a:p>
                <a:pPr lvl="0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600" dirty="0">
                    <a:solidFill>
                      <a:schemeClr val="tx1"/>
                    </a:solidFill>
                  </a:rPr>
                  <a:t>Suspend or reactivate account</a:t>
                </a:r>
                <a:endParaRPr lang="en-US" sz="1600" b="0" kern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F89892D-F764-38DD-2380-DB524BD4D76C}"/>
                  </a:ext>
                </a:extLst>
              </p:cNvPr>
              <p:cNvSpPr/>
              <p:nvPr/>
            </p:nvSpPr>
            <p:spPr>
              <a:xfrm>
                <a:off x="738355" y="4204354"/>
                <a:ext cx="1181850" cy="709110"/>
              </a:xfrm>
              <a:custGeom>
                <a:avLst/>
                <a:gdLst>
                  <a:gd name="connsiteX0" fmla="*/ 0 w 1181850"/>
                  <a:gd name="connsiteY0" fmla="*/ 0 h 709110"/>
                  <a:gd name="connsiteX1" fmla="*/ 1181850 w 1181850"/>
                  <a:gd name="connsiteY1" fmla="*/ 0 h 709110"/>
                  <a:gd name="connsiteX2" fmla="*/ 1181850 w 1181850"/>
                  <a:gd name="connsiteY2" fmla="*/ 709110 h 709110"/>
                  <a:gd name="connsiteX3" fmla="*/ 0 w 1181850"/>
                  <a:gd name="connsiteY3" fmla="*/ 709110 h 709110"/>
                  <a:gd name="connsiteX4" fmla="*/ 0 w 1181850"/>
                  <a:gd name="connsiteY4" fmla="*/ 0 h 709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81850" h="709110">
                    <a:moveTo>
                      <a:pt x="0" y="0"/>
                    </a:moveTo>
                    <a:lnTo>
                      <a:pt x="1181850" y="0"/>
                    </a:lnTo>
                    <a:lnTo>
                      <a:pt x="1181850" y="709110"/>
                    </a:lnTo>
                    <a:lnTo>
                      <a:pt x="0" y="70911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solidFill>
                  <a:srgbClr val="990000"/>
                </a:solidFill>
              </a:ln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hemeClr val="accent2">
                  <a:hueOff val="4832710"/>
                  <a:satOff val="-13870"/>
                  <a:lumOff val="-22207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57912" tIns="60788" rIns="57912" bIns="60788" numCol="1" spcCol="1270" anchor="ctr" anchorCtr="0">
                <a:noAutofit/>
              </a:bodyPr>
              <a:lstStyle/>
              <a:p>
                <a:pPr lvl="0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600" dirty="0">
                    <a:solidFill>
                      <a:schemeClr val="tx1"/>
                    </a:solidFill>
                  </a:rPr>
                  <a:t>Add suspension reason</a:t>
                </a:r>
                <a:endParaRPr lang="en-US" sz="1600" b="0" kern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6E934AE-3710-2533-C0CE-4129AEA3E970}"/>
                </a:ext>
              </a:extLst>
            </p:cNvPr>
            <p:cNvSpPr/>
            <p:nvPr/>
          </p:nvSpPr>
          <p:spPr>
            <a:xfrm>
              <a:off x="2705136" y="5295809"/>
              <a:ext cx="2266353" cy="709110"/>
            </a:xfrm>
            <a:custGeom>
              <a:avLst/>
              <a:gdLst>
                <a:gd name="connsiteX0" fmla="*/ 0 w 1181850"/>
                <a:gd name="connsiteY0" fmla="*/ 0 h 709110"/>
                <a:gd name="connsiteX1" fmla="*/ 1181850 w 1181850"/>
                <a:gd name="connsiteY1" fmla="*/ 0 h 709110"/>
                <a:gd name="connsiteX2" fmla="*/ 1181850 w 1181850"/>
                <a:gd name="connsiteY2" fmla="*/ 709110 h 709110"/>
                <a:gd name="connsiteX3" fmla="*/ 0 w 1181850"/>
                <a:gd name="connsiteY3" fmla="*/ 709110 h 709110"/>
                <a:gd name="connsiteX4" fmla="*/ 0 w 1181850"/>
                <a:gd name="connsiteY4" fmla="*/ 0 h 709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1850" h="709110">
                  <a:moveTo>
                    <a:pt x="0" y="0"/>
                  </a:moveTo>
                  <a:lnTo>
                    <a:pt x="1181850" y="0"/>
                  </a:lnTo>
                  <a:lnTo>
                    <a:pt x="1181850" y="709110"/>
                  </a:lnTo>
                  <a:lnTo>
                    <a:pt x="0" y="70911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/>
            </a:solidFill>
            <a:ln>
              <a:solidFill>
                <a:srgbClr val="990000"/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2">
                <a:hueOff val="4832710"/>
                <a:satOff val="-13870"/>
                <a:lumOff val="-22207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57912" tIns="60788" rIns="57912" bIns="60788" numCol="1" spcCol="1270" anchor="ctr" anchorCtr="0">
              <a:noAutofit/>
            </a:bodyPr>
            <a:lstStyle/>
            <a:p>
              <a:pPr lvl="0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600" dirty="0">
                  <a:solidFill>
                    <a:schemeClr val="tx1"/>
                  </a:solidFill>
                </a:rPr>
                <a:t>Action logged in audit trail</a:t>
              </a:r>
              <a:endParaRPr lang="en-US" sz="1600" b="0" kern="1200" dirty="0">
                <a:solidFill>
                  <a:schemeClr val="tx1"/>
                </a:solidFill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C23C801-17E9-3C94-3E6A-4212F040264E}"/>
                </a:ext>
              </a:extLst>
            </p:cNvPr>
            <p:cNvSpPr/>
            <p:nvPr/>
          </p:nvSpPr>
          <p:spPr>
            <a:xfrm>
              <a:off x="3741821" y="5026356"/>
              <a:ext cx="175348" cy="241225"/>
            </a:xfrm>
            <a:custGeom>
              <a:avLst/>
              <a:gdLst>
                <a:gd name="connsiteX0" fmla="*/ 45720 w 91440"/>
                <a:gd name="connsiteY0" fmla="*/ 0 h 241225"/>
                <a:gd name="connsiteX1" fmla="*/ 45720 w 91440"/>
                <a:gd name="connsiteY1" fmla="*/ 241225 h 24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1440" h="241225">
                  <a:moveTo>
                    <a:pt x="45720" y="0"/>
                  </a:moveTo>
                  <a:lnTo>
                    <a:pt x="45720" y="241225"/>
                  </a:lnTo>
                </a:path>
              </a:pathLst>
            </a:custGeom>
            <a:noFill/>
            <a:ln>
              <a:solidFill>
                <a:srgbClr val="990000"/>
              </a:solidFill>
              <a:tailEnd type="arrow"/>
            </a:ln>
          </p:spPr>
          <p:style>
            <a:lnRef idx="1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1624" tIns="119254" rIns="51625" bIns="119253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b="0" kern="1200">
                <a:solidFill>
                  <a:schemeClr val="tx1"/>
                </a:solidFill>
              </a:endParaRPr>
            </a:p>
          </p:txBody>
        </p:sp>
      </p:grp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BBCD2912-BC85-AF65-8654-DCFD0501CE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500" y="1600416"/>
            <a:ext cx="2952606" cy="4182325"/>
          </a:xfrm>
          <a:prstGeom prst="rect">
            <a:avLst/>
          </a:prstGeom>
          <a:ln>
            <a:solidFill>
              <a:srgbClr val="990000"/>
            </a:solidFill>
          </a:ln>
        </p:spPr>
      </p:pic>
    </p:spTree>
    <p:extLst>
      <p:ext uri="{BB962C8B-B14F-4D97-AF65-F5344CB8AC3E}">
        <p14:creationId xmlns:p14="http://schemas.microsoft.com/office/powerpoint/2010/main" val="2255157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8BF529F97E0B4FA7DABCABD5F519DF" ma:contentTypeVersion="10" ma:contentTypeDescription="Create a new document." ma:contentTypeScope="" ma:versionID="a746da5e0d02c0e30ceaa05b3c7bd56a">
  <xsd:schema xmlns:xsd="http://www.w3.org/2001/XMLSchema" xmlns:xs="http://www.w3.org/2001/XMLSchema" xmlns:p="http://schemas.microsoft.com/office/2006/metadata/properties" xmlns:ns3="902cceeb-76ef-49e5-9e85-95c7ebbf7fc0" targetNamespace="http://schemas.microsoft.com/office/2006/metadata/properties" ma:root="true" ma:fieldsID="24f7f61548f5581cf283d81b05681dbb" ns3:_="">
    <xsd:import namespace="902cceeb-76ef-49e5-9e85-95c7ebbf7fc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2cceeb-76ef-49e5-9e85-95c7ebbf7fc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02cceeb-76ef-49e5-9e85-95c7ebbf7fc0" xsi:nil="true"/>
  </documentManagement>
</p:properties>
</file>

<file path=customXml/itemProps1.xml><?xml version="1.0" encoding="utf-8"?>
<ds:datastoreItem xmlns:ds="http://schemas.openxmlformats.org/officeDocument/2006/customXml" ds:itemID="{A5DCADE0-A5DE-4962-8DE2-28221BE556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AB8992-5EF1-4B95-8EB7-B4B140AD4A4E}">
  <ds:schemaRefs>
    <ds:schemaRef ds:uri="902cceeb-76ef-49e5-9e85-95c7ebbf7fc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D5416CB1-CAF7-4930-A6D3-C9AE9264954C}">
  <ds:schemaRefs>
    <ds:schemaRef ds:uri="http://schemas.microsoft.com/office/infopath/2007/PartnerControls"/>
    <ds:schemaRef ds:uri="http://purl.org/dc/terms/"/>
    <ds:schemaRef ds:uri="http://schemas.openxmlformats.org/package/2006/metadata/core-properties"/>
    <ds:schemaRef ds:uri="902cceeb-76ef-49e5-9e85-95c7ebbf7fc0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Edgar, Noah Ulysses</dc:creator>
  <cp:lastModifiedBy>Aynampudi, Rithu</cp:lastModifiedBy>
  <cp:revision>1</cp:revision>
  <dcterms:created xsi:type="dcterms:W3CDTF">2025-11-11T06:22:50Z</dcterms:created>
  <dcterms:modified xsi:type="dcterms:W3CDTF">2025-11-14T17:36:25Z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0x010100AA8BF529F97E0B4FA7DABCABD5F519DF</vt:lpwstr>
  </property>
</Properties>
</file>